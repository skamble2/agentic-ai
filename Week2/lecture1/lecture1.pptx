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opens. Students shipped a chatbot Friday that can't answer product questions. This week: RAG. Today: the why (hallucination mechanics), the what (RAG pipeline), a first working retriever (BM25), and the evaluation mindset (precision/recall/F1/MRR@K, RAGAS) that runs through the whole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map: today hallucination→RAG + BM25 + metrics intro; Day 2 embeddings &amp; context-aware chunking; Day 3 ChromaDB + HNSW + hybrid/BM25 vs dense; Day 4 full eval deep dive (P/R/F1/MRR@K, RAGAS); Day 5 mini-project with eval report. Theme: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Friday: the shipped bot deflects or invents on catalog questions. Its world = 15 typed lines; the store has 500 products. Demo live if possible with a Week 1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root causes: plausibility objective, no internal source of truth, training bias toward answering. Punchline: hallucination is the mechanism working as designed — the fix is changing the model's reading material, not scolding it in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tempting fixes: context stuffing (cost, lost-in-middle, staleness) and fine-tuning (expensive, stale, bad at facts). The want: exactly the right 500 tokens per question — which IS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RAG pipeline: offline ingestion (documents → chunks → index) and online query path (question → retrieve top-k → augment prompt → generate). The model is unchanged; its reading material changes per question. 'Chunk' box is tomorrow's whole lesson (context-aware chunking).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preview: retrieval returns whole pieces, so piece size/shape = retrieval quality. Ladder: fixed-size → recursive/structural → context-aware (semantic units + headers + metadata). Today's catalog uses one-product-one-chunk (context-aware by construction); Day 2 goes deep.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retrieval families: BM25 (TF × IDF, length-normalised; great for exact terms/model numbers; blind to synonyms) vs semantic/embeddings (meaning vectors; HNSW for fast approximate nearest-neighbour at scale). Production = hybrid. Week plan: BM25 today, embeddings Day 2, HNSW+hybrid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template: answer only from context, explicit I-don't-know permission, citation requirement. Connect to Day 2 anatomy (constraints + context). Citations set up faithfulness evaluation on Day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week's new discipline: measurement. Retrieval metrics today by hand: Precision@k (junk?), Recall@k (missed?), F1 (balance), MRR@K (is the first relevant hit near the top?). Generation-side metrics Day 4 via RAGAS: faithfulness, answer relevancy, context precision/recall. Today's practical computes the retrieval four on a 10-query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table: freshness, per-query cost, citations, IDK behaviour, setup. RAG wins for changing business documents — the SmartMart case exactly. Honest note: not always the answer (style/skills → fine-tuning; tiny stable corpus → stuffing is fine).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project = syllabus mini-project: add RAG to the Week 1 chatbot using catalog + inventory docs, plus an eval report. Today's practical builds the naive version: BM25 + grounding + hand-computed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briefing: rank_bm25 install, five experiments ending in RAGBot v0.1 + retrieval scorecard. Same OpenAI key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4 ideas; preview Day 2 (embeddings + context-aware chunking). Homework: extend the test set with queries where BM25 fails (synonyms/Hinglish) and report the metric drop — tomorrow's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&amp; RAG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make things up — and how retrieval fixes it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· MODULE 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2: your bot gets a real knowledge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325880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RAG · first retriever (BM25) · metrics 101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9280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892808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context-aware chunking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45973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459736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stores: ChromaDB, HNSW, hybrid search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02666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2666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026664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deep dive: P@k, R@k, F1, MRR@K, RAGAS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59359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9359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593592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RAG SmartBot + eval report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8138160" cy="594360"/>
          </a:xfrm>
          <a:prstGeom prst="roundRect">
            <a:avLst>
              <a:gd name="adj" fmla="val 10769"/>
            </a:avLst>
          </a:prstGeom>
          <a:solidFill>
            <a:srgbClr val="E5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 — the engineer's question: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“does it work?” but “how well, measured how?” Every day ends with numbers.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UNFINISHED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shipped bot still fails these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price of the Prima 1.5L kettle?”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727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1371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Deflects — price isn't in the 15-line prompt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13969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13969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750W mixer in stock?”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408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1396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Deflects — no inventory knowledge at all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90779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1520" y="29077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your 3 cheapest kettles.”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089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290779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— it has never seen the catalog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67588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31520" y="367588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your warranty on the X-500 scanner?”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87705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67588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it INVENTS one, confidently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bot's entire world knowledge = the system prompt you typed. SmartMart has 500 products. This week we fix the gap — properly, and with measurements.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LLMs hallucinate — it's not a 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33272"/>
          </a:xfrm>
          <a:prstGeom prst="roundRect">
            <a:avLst>
              <a:gd name="adj" fmla="val 619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5839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Plausibility ≠ truth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520440" y="146304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most PLAUSIBLE next token. Plausible text and true text usually overlap — until they don't. 'The X-500 costs ₹4,999' is perfectly plausible.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523744"/>
            <a:ext cx="8138160" cy="1033272"/>
          </a:xfrm>
          <a:prstGeom prst="roundRect">
            <a:avLst>
              <a:gd name="adj" fmla="val 619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779776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91053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source of truth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2615184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smeared across billions of parameters — compressed, blended, unverifiable. There is no lookup table inside; it cannot cite where a 'fact' came from.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675888"/>
            <a:ext cx="8138160" cy="1033272"/>
          </a:xfrm>
          <a:prstGeom prst="roundRect">
            <a:avLst>
              <a:gd name="adj" fmla="val 619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40626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673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to answer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520440" y="37673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rewards helpful-sounding answers. Saying 'I don't know' was rarely the winning response in training — so confident guessing became the habit.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you cannot prompt hallucination away. You must change what the model reads.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TEMPTING BUT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naive fixes and why they fail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926080"/>
          </a:xfrm>
          <a:prstGeom prst="roundRect">
            <a:avLst>
              <a:gd name="adj" fmla="val 218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“Paste the whole catalog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every prompt”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5204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products ≈ 50K+ tokens per call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ALL of it, on every message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'Lost in the middle': long contexts bury facts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changes hourly — prompts go stale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3950208" cy="2926080"/>
          </a:xfrm>
          <a:prstGeom prst="roundRect">
            <a:avLst>
              <a:gd name="adj" fmla="val 218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544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733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481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“Fine-tune the model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our catalog”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9472" y="2286000"/>
            <a:ext cx="35204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slow, needs ML expertise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the moment a price changes — retrain forever?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teaches STYLE and skills well, FACTS poorly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can't cite sources or say what it doesn't know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want: give the model exactly the right 500 tokens, not all 50,000.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Retrieval-Augmented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build the knowledge base (once, refresh anytime):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2938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276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policies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9385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627632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0" y="1810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92938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16276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pieces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93852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72200" y="1627632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1810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92938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0" y="16276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store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502920" y="2697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every single question: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02920" y="3017520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502920" y="30175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3337560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624328" y="3017520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2624328" y="30175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0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3337560"/>
            <a:ext cx="237744" cy="23774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745736" y="3017520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4745736" y="30175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chunks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3337560"/>
            <a:ext cx="237744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867144" y="3017520"/>
            <a:ext cx="1810512" cy="868680"/>
          </a:xfrm>
          <a:prstGeom prst="roundRect">
            <a:avLst>
              <a:gd name="adj" fmla="val 736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0"/>
          <p:cNvSpPr/>
          <p:nvPr/>
        </p:nvSpPr>
        <p:spPr>
          <a:xfrm>
            <a:off x="6867144" y="30175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502920" y="41605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E5F4F3"/>
          </a:solidFill>
          <a:ln/>
        </p:spPr>
      </p:sp>
      <p:sp>
        <p:nvSpPr>
          <p:cNvPr id="32" name="Text 22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trick: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just predicts next tokens — but now the truth is IN its context, freshly fetched per question. Hallucination loses its oxygen.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SIZE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chunk — and why chunking is an 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926080"/>
          </a:xfrm>
          <a:prstGeom prst="roundRect">
            <a:avLst>
              <a:gd name="adj" fmla="val 218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whole documents?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148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whole pieces. Too big → you drag in irrelevant text (and pay for it, and confuse the model). Too small → the piece loses its meaning: “₹1,299” alone doesn't say WHAT costs ₹1,299.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unit defines what your bot can find. Chunking IS retrieval design.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(tomorrow's deep dive)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18836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46320" y="2176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500 characters — dumb but fast; cuts sentences in half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2679192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7523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/ structural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46320" y="3044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sections → paragraphs → sentences; respects document shape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3547872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36210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46320" y="39136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semantic units whole (one product = one chunk); attach headers &amp; metadata so every chunk carries its own context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101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find the right chunk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880360"/>
          </a:xfrm>
          <a:prstGeom prst="roundRect">
            <a:avLst>
              <a:gd name="adj" fmla="val 2222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— BM25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ranking algorithm (search engines since the 90s). Scores chunks by term frequency — how often your words appear — weighted by rarity (IDF): 'kettle' matters, 'the' doesn't. Length-normalised so long chunks don't cheat.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fast, cheap, no ML, exact matches (model numbers!)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blind to meaning: 'cheap' ≠ 'affordable'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371600"/>
            <a:ext cx="3950208" cy="28803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55448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733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— embeddings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19472" y="212140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 into vectors that encode MEANING; nearby vectors = similar meaning. Finds 'budget-friendly chai maker' → the affordable kettle. At scale, search uses HNSW graphs for near-instant nearest-neighbour lookup.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19472" y="3429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understands synonyms, paraphrase, Hinglish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needs an embedding model + vector store (Days 2–3)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use BOTH — hybrid search. Today: BM25. Tomorrow: embeddings. Day 3: HNSW + hybrid.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the RAG prompt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063240"/>
          </a:xfrm>
          <a:prstGeom prst="roundRect">
            <a:avLst>
              <a:gd name="adj" fmla="val 209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SmartBot...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context below.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 not in the context,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"I don't have that information."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the product ID you used.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[chunk 1: P-101 Prima Kettle ₹1,299...]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[chunk 2: P-104 Zenith Kettle ₹2,499...]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QUESTION: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kettle is cheapest?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32120" y="137160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“ONLY from the context”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15000" y="1828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model off from its blended, unverifiable training memory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2450592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to say “I don't know”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15000" y="2907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the trained habit of confident guessing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3529584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“Cite the ID”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39867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answers auditable — and enables Day 4's faithfulness checks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it works? Measure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metrics — did we fetch the right chunks? (today, by hand)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27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Precision@k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627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k chunks retrieved, what fraction were relevant?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0" y="1627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junk did I fetch?”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2585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258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relevant chunks that exist, what fraction did I fetch?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258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I miss?”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28895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8895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one balanced number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889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“Overall retrieval quality”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MRR@K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rank of the first relevant chunk, averaged over queries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right answer at the TOP?”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E5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06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metrics (Day 4, with the RAGAS framework):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(is the answer supported by the retrieved context?), answer relevancy, context precision &amp; recall — LLM-assisted scoring of the full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the alternatives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3258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stuffing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43984" y="13258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01968" y="13258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1892808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18928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8928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per prompt edit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43984" y="18928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443984" y="18928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per training run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01968" y="189280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18928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index anytime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459736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2459736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24597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(all tokens, always)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43984" y="2459736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24597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tokens, huge upfront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1968" y="2459736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24597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(only top-k chunks)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026664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0" y="3026664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0266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but messy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43984" y="3026664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29" name="Text 27"/>
          <p:cNvSpPr/>
          <p:nvPr/>
        </p:nvSpPr>
        <p:spPr>
          <a:xfrm>
            <a:off x="4443984" y="30266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01968" y="3026664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30266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(chunk IDs)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3593592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'I don't know'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0" y="3593592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35935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43984" y="3593592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36" name="Text 34"/>
          <p:cNvSpPr/>
          <p:nvPr/>
        </p:nvSpPr>
        <p:spPr>
          <a:xfrm>
            <a:off x="4443984" y="35935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01968" y="3593592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38" name="Text 36"/>
          <p:cNvSpPr/>
          <p:nvPr/>
        </p:nvSpPr>
        <p:spPr>
          <a:xfrm>
            <a:off x="6601968" y="35935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 (grounding rule)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160520"/>
            <a:ext cx="1691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effort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86000" y="416052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41" name="Text 39"/>
          <p:cNvSpPr/>
          <p:nvPr/>
        </p:nvSpPr>
        <p:spPr>
          <a:xfrm>
            <a:off x="228600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43984" y="416052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/>
        </p:spPr>
      </p:sp>
      <p:sp>
        <p:nvSpPr>
          <p:cNvPr id="43" name="Text 41"/>
          <p:cNvSpPr/>
          <p:nvPr/>
        </p:nvSpPr>
        <p:spPr>
          <a:xfrm>
            <a:off x="4443984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01968" y="416052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E5F4F3"/>
          </a:solidFill>
          <a:ln/>
        </p:spPr>
      </p:sp>
      <p:sp>
        <p:nvSpPr>
          <p:cNvPr id="45" name="Text 43"/>
          <p:cNvSpPr/>
          <p:nvPr/>
        </p:nvSpPr>
        <p:spPr>
          <a:xfrm>
            <a:off x="6601968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this week!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isn't always the answer — but for 'chatbot over changing business documents' it's the industry default.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build: SmartBot learns the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 (Day 5)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RAG to your Week 1 chatbot using product catalogs and inventory documents — with an evaluation report proving retrieval quality (P@k, R@k, F1, MRR@K) and grounded answers.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syllabus — and it feeds Week 3's agent.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3716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1371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RAG: BM25 retriever + grounded prompt + first 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99339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199339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23560" y="19933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chunking + embeddings replace keywords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17720" y="261518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6151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23560" y="26151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· HNSW · hybrid BM25+dense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323697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2369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23560" y="32369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deep dive: tune k, chunking, search mode by the numbers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17720" y="385876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38587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3560" y="3858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Assemble: RAG SmartBot + eval report (graded)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your first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key as usual + rank_bm25, a tiny library implementing the BM25 algorithm.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experiments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failure · measure context-stuffing · build a BM25 retriever · wire the RAG loop · compute P@k, R@k, F1, MRR@K.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RAGBot v0.1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SmartBot answers real catalog questions with citations — and you have the numbers to prove how well.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a bot that quotes real prices from a real catalog — and a scorecard for its retriever.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is mechanical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≠ true; no internal source of truth; trained to answer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changes the reading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right chunks per question; ground the answer in them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is design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unit defines what's findable — context-aware beats naive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Measure, don't vibe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P@k, R@k, F1, MRR@K today — RAGAS for the full pipeline on Day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2: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(how machines represent meaning) and context-aware chunking done properly — the two upgrades your BM25 baseline is begging for.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Module 1 — Why LLMs Hallucinate &amp; How RAG Solves It</dc:title>
  <dc:subject>PptxGenJS Presentation</dc:subject>
  <dc:creator>PMS RoBoTics Research Center</dc:creator>
  <cp:lastModifiedBy>PMS RoBoTics Research Center</cp:lastModifiedBy>
  <cp:revision>1</cp:revision>
  <dcterms:created xsi:type="dcterms:W3CDTF">2026-07-13T04:18:10Z</dcterms:created>
  <dcterms:modified xsi:type="dcterms:W3CDTF">2026-07-13T04:18:10Z</dcterms:modified>
</cp:coreProperties>
</file>
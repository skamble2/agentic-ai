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3 of Week 2. Yesterday: embeddings + chunking, numpy brute force. Today: a real vector database (ChromaDB), how HNSW makes search fast at scale, and hybrid search (BM25+vectors via RRF) — fixing the complementary failure modes measured on Days 1-2.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measured complementary failures (Days 1-2). Today's two jobs: real infrastructure (ChromaDB — persistence, filters, scale) and hybrid search (both retrievers merged). Homework debrief: threshold idea returns in v0.3.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gaps in the hand-rolled retriever: persistence, metadata filtering, updates, scale. A vector DB packages all four. Alternatives exist (Pinecone, Weaviate, Qdrant, pgvector) — ChromaDB is the teaching choice: open-source, pip-installable, zero config.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ChromaDB core API: create_collection (choose cosine), add (ids/documents/embeddings/metadatas), query (vector + where filter + n_results). We pass our own OpenAI embeddings explicitly — same vectors as yesterday, now managed. PersistentClient(path=...) for disk — homework.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Metadata filtering: constraints (price&lt;1000, category) are exact set-logic, done before/with similarity. where clause with $and/$eq/$lt. Design rule: exact-constrainable fields → metadata at index time. Practical: 'chai under 1000' query.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Scale table: brute force is linear — fine at 24, dead at millions. ANN bargain: trade exactness guarantee for enormous speed, keeping ~99% recall. Sets up HNSW. Practical includes a real timing race: numpy vs Chroma HNSW on 50k synthetic vectors.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HNSW = Hierarchical Navigable Small World. Analogy: highways → main roads → streets. Search: enter top layer, greedy-hop toward query, descend, finish precise at layer 0. Log-ish complexity. Tunables M (links/node) and ef (search beam width) trade recall vs speed/memory. Costs: memory, approximate recall. Chroma runs it under the hood.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Hybrid: run both retrievers, merge with RRF. Key insight — raw scores aren't comparable across systems (different scales); ranks are. This is the industry-standard first hybrid (Weaviate/Qdrant/Elastic all ship RRF).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RRF formula: sum of 1/(60+rank) across rankers. Worked example: the scanner is rank 1 in BM25 and rank 4 in vectors → top RRF. A vector-only hit sinks. k=60 damps dominance; consistent-decent beats single-spectacular. Implemented in ~10 lines in the practical.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Toolbox beyond today: reranking (cross-encoders over a small candidate set), query rewriting (LLM improves the search query), multi-query + RRF. Rule: each stage adds latency/cost — measure before shipping. Day 4 gives the measuring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Expectations table: hybrid ≥ best single, most stable across query types. Honest caveat: tiny corpus may show ties — the gold set exists so we know. Practical runs the 3-way eval.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v0.2→v0.3: Chroma-backed with metadata, hybrid RRF retrieval, filters. Friday's graded project = v0.3 + Day 4's eval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Practical: Chroma indexing + filters, HNSW timing race at 50k vectors, RRF + 3-way eval. Note: chromadb pip install takes a minute in Colab — have students start it during the briefing if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Recap; preview Day 4 (evaluation deep dive + RAGAS). Homework: PersistentClient, tune RRF constant, add products with metadata.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ROBOTICS RESEARCH CENTER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Vector Store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· inside HNSW · hybrid search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635240" y="411480"/>
            <a:ext cx="868680" cy="868680"/>
          </a:xfrm>
          <a:prstGeom prst="ellipse">
            <a:avLst/>
          </a:prstGeom>
          <a:solidFill>
            <a:srgbClr val="2A306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1097" y="637337"/>
            <a:ext cx="416966" cy="41696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3977640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2A3060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9776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02 · MODULE 03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88920" y="397764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2A3060"/>
          </a:solidFill>
          <a:ln/>
        </p:spPr>
      </p:sp>
      <p:sp>
        <p:nvSpPr>
          <p:cNvPr id="10" name="Text 7"/>
          <p:cNvSpPr/>
          <p:nvPr/>
        </p:nvSpPr>
        <p:spPr>
          <a:xfrm>
            <a:off x="2788920" y="3977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&amp; VECTOR STORES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897880" y="397764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2A3060"/>
          </a:solidFill>
          <a:ln/>
        </p:spPr>
      </p:sp>
      <p:sp>
        <p:nvSpPr>
          <p:cNvPr id="12" name="Text 9"/>
          <p:cNvSpPr/>
          <p:nvPr/>
        </p:nvSpPr>
        <p:spPr>
          <a:xfrm>
            <a:off x="5897880" y="3977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 · THEORY + PRACTICAL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retrievers, two blind spots, one plan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886200" cy="2606040"/>
          </a:xfrm>
          <a:prstGeom prst="roundRect">
            <a:avLst>
              <a:gd name="adj" fmla="val 2456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544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score so far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3429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BM25: wins X-500, P-113, exact specs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loses sasta kettle, paraphrases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Embeddings: mirror image — wins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meaning, loses identifiers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Today: stop choosing. Run BOTH.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3977640" cy="493776"/>
          </a:xfrm>
          <a:prstGeom prst="roundRect">
            <a:avLst>
              <a:gd name="adj" fmla="val 11111"/>
            </a:avLst>
          </a:prstGeom>
          <a:solidFill>
            <a:srgbClr val="E5F4F3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371600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577840" y="1371600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→ RAG · BM25 · metrics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938528"/>
            <a:ext cx="3977640" cy="493776"/>
          </a:xfrm>
          <a:prstGeom prst="roundRect">
            <a:avLst>
              <a:gd name="adj" fmla="val 11111"/>
            </a:avLst>
          </a:prstGeom>
          <a:solidFill>
            <a:srgbClr val="E5F4F3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938528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577840" y="1938528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&amp; context-aware chunking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505456"/>
            <a:ext cx="3977640" cy="493776"/>
          </a:xfrm>
          <a:prstGeom prst="roundRect">
            <a:avLst>
              <a:gd name="adj" fmla="val 11111"/>
            </a:avLst>
          </a:prstGeom>
          <a:solidFill>
            <a:srgbClr val="1B1F3B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2505456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577840" y="2505456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· HNSW · hybrid search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3072384"/>
            <a:ext cx="3977640" cy="493776"/>
          </a:xfrm>
          <a:prstGeom prst="roundRect">
            <a:avLst>
              <a:gd name="adj" fmla="val 11111"/>
            </a:avLst>
          </a:prstGeom>
          <a:solidFill>
            <a:srgbClr val="EEF3F7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3072384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577840" y="3072384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deep dive: RAGAS &amp; friends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639312"/>
            <a:ext cx="3977640" cy="493776"/>
          </a:xfrm>
          <a:prstGeom prst="roundRect">
            <a:avLst>
              <a:gd name="adj" fmla="val 11111"/>
            </a:avLst>
          </a:prstGeom>
          <a:solidFill>
            <a:srgbClr val="EEF3F7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639312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577840" y="3639312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Mini-project: RAG SmartBot + eval report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2062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our numpy retriever forgets everything on restart and can't filter or scale. Time for real infrastructure.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PAINS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our numpy retriever can't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8138160" cy="804672"/>
          </a:xfrm>
          <a:prstGeom prst="roundRect">
            <a:avLst>
              <a:gd name="adj" fmla="val 7955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08760"/>
            <a:ext cx="457200" cy="45720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62763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325880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Persistence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2834640" y="1325880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live in RAM — restart the notebook, re-embed everything, pay again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263640" y="1325880"/>
            <a:ext cx="2240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saves to disk; load in one line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02920" y="2221992"/>
            <a:ext cx="8138160" cy="804672"/>
          </a:xfrm>
          <a:prstGeom prst="roundRect">
            <a:avLst>
              <a:gd name="adj" fmla="val 7955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85800" y="2404872"/>
            <a:ext cx="457200" cy="45720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523744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222199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Metadata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2834640" y="2221992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“kitchen items under ₹1,000” needs filtering, not just similarity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263640" y="2221992"/>
            <a:ext cx="2240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+ search in one query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02920" y="3118104"/>
            <a:ext cx="8138160" cy="804672"/>
          </a:xfrm>
          <a:prstGeom prst="roundRect">
            <a:avLst>
              <a:gd name="adj" fmla="val 7955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85800" y="3300984"/>
            <a:ext cx="457200" cy="45720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419856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118104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Updates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2834640" y="3118104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price change = rebuild the whole matrix carefully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6263640" y="3118104"/>
            <a:ext cx="2240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update / delete by ID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02920" y="4014216"/>
            <a:ext cx="8138160" cy="804672"/>
          </a:xfrm>
          <a:prstGeom prst="roundRect">
            <a:avLst>
              <a:gd name="adj" fmla="val 7955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85800" y="4197096"/>
            <a:ext cx="457200" cy="45720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315968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71600" y="4014216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2834640" y="4014216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 checks EVERY vector — dies around a million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6263640" y="4014216"/>
            <a:ext cx="2240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 index: milliseconds at millions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502920" y="484632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vector database = embeddings + storage + filters + a fast index, behind one API.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ChromaDB in 12 lines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4937760" cy="3154680"/>
          </a:xfrm>
          <a:prstGeom prst="roundRect">
            <a:avLst>
              <a:gd name="adj" fmla="val 2029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36192"/>
            <a:ext cx="4480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chromadb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chromadb.Client()      # in-memory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 = client.create_collection(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"smartmart",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metadata={"hnsw:space": "cosine"})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col.add(ids=[...],               # "P-101"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documents=[...],         # chunk text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embeddings=[...],        # our vectors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metadatas=[...])         # {"category": ...}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 = col.query(query_embeddings=[qv],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n_results=3,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where={"category": "kitchen"})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23560" y="1371600"/>
            <a:ext cx="3017520" cy="960120"/>
          </a:xfrm>
          <a:prstGeom prst="roundRect">
            <a:avLst>
              <a:gd name="adj" fmla="val 5714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806440" y="14630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Collection = a table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06440" y="1792224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knowledge base; it stores text + vectors + metadata together, keyed by ID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623560" y="2468880"/>
            <a:ext cx="3017520" cy="960120"/>
          </a:xfrm>
          <a:prstGeom prst="roundRect">
            <a:avLst>
              <a:gd name="adj" fmla="val 5714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806440" y="25603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cosine on purpose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06440" y="2889504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CHOOSE the distance metric — same math you hand-rolled yesterday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623560" y="3566160"/>
            <a:ext cx="3017520" cy="960120"/>
          </a:xfrm>
          <a:prstGeom prst="roundRect">
            <a:avLst>
              <a:gd name="adj" fmla="val 5714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06440" y="36576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does 3 jobs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06440" y="3986784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 vector search + metadata filter + return documents, in one call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SUPERPOWER №1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 first, then search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50208" cy="1463040"/>
          </a:xfrm>
          <a:prstGeom prst="roundRect">
            <a:avLst>
              <a:gd name="adj" fmla="val 4375"/>
            </a:avLst>
          </a:prstGeom>
          <a:solidFill>
            <a:srgbClr val="F7E6E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“Show me kitchen items under ₹1,000”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similarity can't do 'under ₹1,000' — numbers are exactly where vectors blur. This is a CONSTRAINT, not a meaning.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90872" y="1371600"/>
            <a:ext cx="3950208" cy="1463040"/>
          </a:xfrm>
          <a:prstGeom prst="roundRect">
            <a:avLst>
              <a:gd name="adj" fmla="val 4375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19472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Metadata: exact. Vectors: fuzzy.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19472" y="19202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price and category as structured metadata at index time. The filter is exact set-logic; similarity ranks only what survives it.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3063240"/>
            <a:ext cx="8138160" cy="1234440"/>
          </a:xfrm>
          <a:prstGeom prst="roundRect">
            <a:avLst>
              <a:gd name="adj" fmla="val 5185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20040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col.query(query_embeddings=[embed("something for making tea")],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n_results=3,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where={"$and": [{"category": {"$eq": "kitchen"}},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{"price":    {"$lt": 1000}}]})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44805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rule: anything a customer can constrain exactly (price, category, stock, brand) belongs in metadata — not just in the text.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SUPERPOWER №2,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brute force dies at scale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7160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chunks (our store)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200400" y="137160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comparisons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0" y="137160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microseconds — brute force is FINE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130552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13055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1M chunks (marketplace)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200400" y="213055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1,000,000 comparisons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0" y="213055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~seconds per query — users leave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889504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F7E6E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2889504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100M chunks (web scale)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200400" y="2889504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100,000,000 comparisons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0" y="2889504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per keystroke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794760"/>
            <a:ext cx="8138160" cy="960120"/>
          </a:xfrm>
          <a:prstGeom prst="roundRect">
            <a:avLst>
              <a:gd name="adj" fmla="val 6667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379476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ANN bargain:  </a:t>
            </a:r>
            <a:pPr indent="0" marL="0">
              <a:buNone/>
            </a:pPr>
            <a:r>
              <a:rPr lang="en-US" sz="125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up the GUARANTEE of the exact nearest neighbour, get ~99% of the right answers at ~1/10,000th of the work. Approximate Nearest Neighbour search — and the reigning algorithm is HNSW.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INDEX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HNSW: a highway system for vectors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4846320" cy="822960"/>
          </a:xfrm>
          <a:prstGeom prst="roundRect">
            <a:avLst>
              <a:gd name="adj" fmla="val 7778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4264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2 — highways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nodes, long jumps across the whole space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200400" y="1517904"/>
            <a:ext cx="118872" cy="118872"/>
          </a:xfrm>
          <a:prstGeom prst="ellipse">
            <a:avLst/>
          </a:prstGeom>
          <a:solidFill>
            <a:srgbClr val="2A3060"/>
          </a:solidFill>
          <a:ln/>
        </p:spPr>
      </p:sp>
      <p:sp>
        <p:nvSpPr>
          <p:cNvPr id="8" name="Shape 6"/>
          <p:cNvSpPr/>
          <p:nvPr/>
        </p:nvSpPr>
        <p:spPr>
          <a:xfrm>
            <a:off x="4160520" y="1517904"/>
            <a:ext cx="118872" cy="118872"/>
          </a:xfrm>
          <a:prstGeom prst="ellipse">
            <a:avLst/>
          </a:prstGeom>
          <a:solidFill>
            <a:srgbClr val="2A3060"/>
          </a:solidFill>
          <a:ln/>
        </p:spPr>
      </p:sp>
      <p:sp>
        <p:nvSpPr>
          <p:cNvPr id="9" name="Shape 7"/>
          <p:cNvSpPr/>
          <p:nvPr/>
        </p:nvSpPr>
        <p:spPr>
          <a:xfrm>
            <a:off x="5120640" y="1517904"/>
            <a:ext cx="118872" cy="118872"/>
          </a:xfrm>
          <a:prstGeom prst="ellipse">
            <a:avLst/>
          </a:prstGeom>
          <a:solidFill>
            <a:srgbClr val="2A3060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2304288"/>
            <a:ext cx="4846320" cy="822960"/>
          </a:xfrm>
          <a:prstGeom prst="roundRect">
            <a:avLst>
              <a:gd name="adj" fmla="val 7778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23591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1 — main roads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8072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nodes, medium hops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0" y="2450592"/>
            <a:ext cx="118872" cy="118872"/>
          </a:xfrm>
          <a:prstGeom prst="ellipse">
            <a:avLst/>
          </a:prstGeom>
          <a:solidFill>
            <a:srgbClr val="2A3060"/>
          </a:solidFill>
          <a:ln/>
        </p:spPr>
      </p:sp>
      <p:sp>
        <p:nvSpPr>
          <p:cNvPr id="14" name="Shape 12"/>
          <p:cNvSpPr/>
          <p:nvPr/>
        </p:nvSpPr>
        <p:spPr>
          <a:xfrm>
            <a:off x="3584448" y="2450592"/>
            <a:ext cx="118872" cy="118872"/>
          </a:xfrm>
          <a:prstGeom prst="ellipse">
            <a:avLst/>
          </a:prstGeom>
          <a:solidFill>
            <a:srgbClr val="2A3060"/>
          </a:solidFill>
          <a:ln/>
        </p:spPr>
      </p:sp>
      <p:sp>
        <p:nvSpPr>
          <p:cNvPr id="15" name="Shape 13"/>
          <p:cNvSpPr/>
          <p:nvPr/>
        </p:nvSpPr>
        <p:spPr>
          <a:xfrm>
            <a:off x="3968496" y="2450592"/>
            <a:ext cx="118872" cy="118872"/>
          </a:xfrm>
          <a:prstGeom prst="ellipse">
            <a:avLst/>
          </a:prstGeom>
          <a:solidFill>
            <a:srgbClr val="2A3060"/>
          </a:solidFill>
          <a:ln/>
        </p:spPr>
      </p:sp>
      <p:sp>
        <p:nvSpPr>
          <p:cNvPr id="16" name="Shape 14"/>
          <p:cNvSpPr/>
          <p:nvPr/>
        </p:nvSpPr>
        <p:spPr>
          <a:xfrm>
            <a:off x="4352544" y="2450592"/>
            <a:ext cx="118872" cy="118872"/>
          </a:xfrm>
          <a:prstGeom prst="ellipse">
            <a:avLst/>
          </a:prstGeom>
          <a:solidFill>
            <a:srgbClr val="2A3060"/>
          </a:solidFill>
          <a:ln/>
        </p:spPr>
      </p:sp>
      <p:sp>
        <p:nvSpPr>
          <p:cNvPr id="17" name="Shape 15"/>
          <p:cNvSpPr/>
          <p:nvPr/>
        </p:nvSpPr>
        <p:spPr>
          <a:xfrm>
            <a:off x="4736592" y="2450592"/>
            <a:ext cx="118872" cy="118872"/>
          </a:xfrm>
          <a:prstGeom prst="ellipse">
            <a:avLst/>
          </a:prstGeom>
          <a:solidFill>
            <a:srgbClr val="2A3060"/>
          </a:solidFill>
          <a:ln/>
        </p:spPr>
      </p:sp>
      <p:sp>
        <p:nvSpPr>
          <p:cNvPr id="18" name="Shape 16"/>
          <p:cNvSpPr/>
          <p:nvPr/>
        </p:nvSpPr>
        <p:spPr>
          <a:xfrm>
            <a:off x="5120640" y="2450592"/>
            <a:ext cx="118872" cy="118872"/>
          </a:xfrm>
          <a:prstGeom prst="ellipse">
            <a:avLst/>
          </a:prstGeom>
          <a:solidFill>
            <a:srgbClr val="2A3060"/>
          </a:solidFill>
          <a:ln/>
        </p:spPr>
      </p:sp>
      <p:sp>
        <p:nvSpPr>
          <p:cNvPr id="19" name="Shape 17"/>
          <p:cNvSpPr/>
          <p:nvPr/>
        </p:nvSpPr>
        <p:spPr>
          <a:xfrm>
            <a:off x="502920" y="3236976"/>
            <a:ext cx="4846320" cy="822960"/>
          </a:xfrm>
          <a:prstGeom prst="roundRect">
            <a:avLst>
              <a:gd name="adj" fmla="val 7778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" y="3291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0 — streets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373989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nodes, short precise links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0" y="3383280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3" name="Shape 21"/>
          <p:cNvSpPr/>
          <p:nvPr/>
        </p:nvSpPr>
        <p:spPr>
          <a:xfrm>
            <a:off x="3374967" y="3383280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4" name="Shape 22"/>
          <p:cNvSpPr/>
          <p:nvPr/>
        </p:nvSpPr>
        <p:spPr>
          <a:xfrm>
            <a:off x="3549535" y="3383280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5" name="Shape 23"/>
          <p:cNvSpPr/>
          <p:nvPr/>
        </p:nvSpPr>
        <p:spPr>
          <a:xfrm>
            <a:off x="3724102" y="3383280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6" name="Shape 24"/>
          <p:cNvSpPr/>
          <p:nvPr/>
        </p:nvSpPr>
        <p:spPr>
          <a:xfrm>
            <a:off x="3898669" y="3383280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7" name="Shape 25"/>
          <p:cNvSpPr/>
          <p:nvPr/>
        </p:nvSpPr>
        <p:spPr>
          <a:xfrm>
            <a:off x="4073236" y="3383280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8" name="Shape 26"/>
          <p:cNvSpPr/>
          <p:nvPr/>
        </p:nvSpPr>
        <p:spPr>
          <a:xfrm>
            <a:off x="4247804" y="3383280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9" name="Shape 27"/>
          <p:cNvSpPr/>
          <p:nvPr/>
        </p:nvSpPr>
        <p:spPr>
          <a:xfrm>
            <a:off x="4422371" y="3383280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0" name="Shape 28"/>
          <p:cNvSpPr/>
          <p:nvPr/>
        </p:nvSpPr>
        <p:spPr>
          <a:xfrm>
            <a:off x="4596938" y="3383280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1" name="Shape 29"/>
          <p:cNvSpPr/>
          <p:nvPr/>
        </p:nvSpPr>
        <p:spPr>
          <a:xfrm>
            <a:off x="4771505" y="3383280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2" name="Shape 30"/>
          <p:cNvSpPr/>
          <p:nvPr/>
        </p:nvSpPr>
        <p:spPr>
          <a:xfrm>
            <a:off x="4946073" y="3383280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3" name="Shape 31"/>
          <p:cNvSpPr/>
          <p:nvPr/>
        </p:nvSpPr>
        <p:spPr>
          <a:xfrm>
            <a:off x="5120640" y="3383280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42062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search: enter at the top → greedy-hop toward the query → drop a layer → repeat → precise result at Layer 0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623560" y="1371600"/>
            <a:ext cx="3017520" cy="960120"/>
          </a:xfrm>
          <a:prstGeom prst="roundRect">
            <a:avLst>
              <a:gd name="adj" fmla="val 5714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806440" y="14630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Skip-list × small-world graph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806440" y="1792224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log-ish hops instead of a linear scan — millions of vectors in milliseconds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623560" y="2468880"/>
            <a:ext cx="3017520" cy="960120"/>
          </a:xfrm>
          <a:prstGeom prst="roundRect">
            <a:avLst>
              <a:gd name="adj" fmla="val 5714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806440" y="25603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Tunable: M &amp; ef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806440" y="2889504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links (M) and a wider search beam (ef) = better recall, more memory/time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623560" y="3566160"/>
            <a:ext cx="3017520" cy="960120"/>
          </a:xfrm>
          <a:prstGeom prst="roundRect">
            <a:avLst>
              <a:gd name="adj" fmla="val 5714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806440" y="36576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fine print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806440" y="3986784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inserts are costly-ish, memory-hungry, and results are approximate — recall &lt; 100%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SUPERPOWER №3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search: stop choosing, start merging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377440" cy="1051560"/>
          </a:xfrm>
          <a:prstGeom prst="roundRect">
            <a:avLst>
              <a:gd name="adj" fmla="val 608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600200"/>
            <a:ext cx="411480" cy="41148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353" y="1707185"/>
            <a:ext cx="197510" cy="1975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5361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BM25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19385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terms, IDs,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02920" y="2697480"/>
            <a:ext cx="2377440" cy="1051560"/>
          </a:xfrm>
          <a:prstGeom prst="roundRect">
            <a:avLst>
              <a:gd name="adj" fmla="val 608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" y="2880360"/>
            <a:ext cx="411480" cy="41148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353" y="2987345"/>
            <a:ext cx="197510" cy="1975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28163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85800" y="32186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meaning, synonyms,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Hinglish</a:t>
            </a:r>
            <a:endParaRPr lang="en-US" sz="9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1874520"/>
            <a:ext cx="256032" cy="256032"/>
          </a:xfrm>
          <a:prstGeom prst="rect">
            <a:avLst/>
          </a:prstGeom>
        </p:spPr>
      </p:pic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800" y="3154680"/>
            <a:ext cx="256032" cy="25603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3337560" y="1965960"/>
            <a:ext cx="2286000" cy="1234440"/>
          </a:xfrm>
          <a:prstGeom prst="roundRect">
            <a:avLst>
              <a:gd name="adj" fmla="val 5185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3337560" y="2148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3337560" y="25146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Reciprocal Rank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(RRF)</a:t>
            </a:r>
            <a:endParaRPr lang="en-US" sz="11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2432" y="2487168"/>
            <a:ext cx="256032" cy="256032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6126480" y="1965960"/>
            <a:ext cx="2514600" cy="1234440"/>
          </a:xfrm>
          <a:prstGeom prst="roundRect">
            <a:avLst>
              <a:gd name="adj" fmla="val 5185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4"/>
          <p:cNvSpPr/>
          <p:nvPr/>
        </p:nvSpPr>
        <p:spPr>
          <a:xfrm>
            <a:off x="6126480" y="21488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ranking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6126480" y="25146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on BOTH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502920" y="4069080"/>
            <a:ext cx="8138160" cy="777240"/>
          </a:xfrm>
          <a:prstGeom prst="roundRect">
            <a:avLst>
              <a:gd name="adj" fmla="val 8235"/>
            </a:avLst>
          </a:prstGeom>
          <a:solidFill>
            <a:srgbClr val="EEF3F7"/>
          </a:solidFill>
          <a:ln/>
        </p:spPr>
      </p:sp>
      <p:sp>
        <p:nvSpPr>
          <p:cNvPr id="24" name="Text 17"/>
          <p:cNvSpPr/>
          <p:nvPr/>
        </p:nvSpPr>
        <p:spPr>
          <a:xfrm>
            <a:off x="731520" y="406908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ranks, not scores? </a:t>
            </a:r>
            <a:pPr indent="0" marL="0">
              <a:buNone/>
            </a:pPr>
            <a:r>
              <a:rPr lang="en-US" sz="12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scores go 0→∞, cosine goes −1→1 — you can't average apples and orbits. RANKS are comparable: 1st is 1st in any system. RRF fuses ranks.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MERGE MATH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Reciprocal Rank Fusion — one formula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731520"/>
          </a:xfrm>
          <a:prstGeom prst="roundRect">
            <a:avLst>
              <a:gd name="adj" fmla="val 8750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37160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RRF(doc)  =  Σ over rankers   1 / (60 + rank of doc in that ranker)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228600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query: “X-500 warranty”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651760"/>
            <a:ext cx="2286000" cy="45720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/>
        </p:spPr>
      </p:sp>
      <p:sp>
        <p:nvSpPr>
          <p:cNvPr id="8" name="Text 6"/>
          <p:cNvSpPr/>
          <p:nvPr/>
        </p:nvSpPr>
        <p:spPr>
          <a:xfrm>
            <a:off x="539496" y="2651760"/>
            <a:ext cx="2212848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34640" y="2651760"/>
            <a:ext cx="1234440" cy="45720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/>
        </p:spPr>
      </p:sp>
      <p:sp>
        <p:nvSpPr>
          <p:cNvPr id="10" name="Text 8"/>
          <p:cNvSpPr/>
          <p:nvPr/>
        </p:nvSpPr>
        <p:spPr>
          <a:xfrm>
            <a:off x="2871216" y="2651760"/>
            <a:ext cx="1161288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rank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0" y="2651760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/>
        </p:spPr>
      </p:sp>
      <p:sp>
        <p:nvSpPr>
          <p:cNvPr id="12" name="Text 10"/>
          <p:cNvSpPr/>
          <p:nvPr/>
        </p:nvSpPr>
        <p:spPr>
          <a:xfrm>
            <a:off x="4151376" y="2651760"/>
            <a:ext cx="1207008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rank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40680" y="2651760"/>
            <a:ext cx="1965960" cy="45720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/>
        </p:spPr>
      </p:sp>
      <p:sp>
        <p:nvSpPr>
          <p:cNvPr id="14" name="Text 12"/>
          <p:cNvSpPr/>
          <p:nvPr/>
        </p:nvSpPr>
        <p:spPr>
          <a:xfrm>
            <a:off x="5477256" y="2651760"/>
            <a:ext cx="1892808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 score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452360" y="2651760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/>
        </p:spPr>
      </p:sp>
      <p:sp>
        <p:nvSpPr>
          <p:cNvPr id="16" name="Text 14"/>
          <p:cNvSpPr/>
          <p:nvPr/>
        </p:nvSpPr>
        <p:spPr>
          <a:xfrm>
            <a:off x="7488936" y="2651760"/>
            <a:ext cx="1207008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172968"/>
            <a:ext cx="2286000" cy="457200"/>
          </a:xfrm>
          <a:prstGeom prst="roundRect">
            <a:avLst>
              <a:gd name="adj" fmla="val 10000"/>
            </a:avLst>
          </a:prstGeom>
          <a:solidFill>
            <a:srgbClr val="E5F4F3"/>
          </a:solidFill>
          <a:ln/>
        </p:spPr>
      </p:sp>
      <p:sp>
        <p:nvSpPr>
          <p:cNvPr id="18" name="Text 16"/>
          <p:cNvSpPr/>
          <p:nvPr/>
        </p:nvSpPr>
        <p:spPr>
          <a:xfrm>
            <a:off x="539496" y="3172968"/>
            <a:ext cx="2212848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P-116 (the scanner)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834640" y="3172968"/>
            <a:ext cx="1234440" cy="457200"/>
          </a:xfrm>
          <a:prstGeom prst="roundRect">
            <a:avLst>
              <a:gd name="adj" fmla="val 10000"/>
            </a:avLst>
          </a:prstGeom>
          <a:solidFill>
            <a:srgbClr val="E5F4F3"/>
          </a:solidFill>
          <a:ln/>
        </p:spPr>
      </p:sp>
      <p:sp>
        <p:nvSpPr>
          <p:cNvPr id="20" name="Text 18"/>
          <p:cNvSpPr/>
          <p:nvPr/>
        </p:nvSpPr>
        <p:spPr>
          <a:xfrm>
            <a:off x="2871216" y="3172968"/>
            <a:ext cx="1161288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0" y="3172968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E5F4F3"/>
          </a:solidFill>
          <a:ln/>
        </p:spPr>
      </p:sp>
      <p:sp>
        <p:nvSpPr>
          <p:cNvPr id="22" name="Text 20"/>
          <p:cNvSpPr/>
          <p:nvPr/>
        </p:nvSpPr>
        <p:spPr>
          <a:xfrm>
            <a:off x="4151376" y="3172968"/>
            <a:ext cx="1207008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3172968"/>
            <a:ext cx="1965960" cy="457200"/>
          </a:xfrm>
          <a:prstGeom prst="roundRect">
            <a:avLst>
              <a:gd name="adj" fmla="val 10000"/>
            </a:avLst>
          </a:prstGeom>
          <a:solidFill>
            <a:srgbClr val="E5F4F3"/>
          </a:solidFill>
          <a:ln/>
        </p:spPr>
      </p:sp>
      <p:sp>
        <p:nvSpPr>
          <p:cNvPr id="24" name="Text 22"/>
          <p:cNvSpPr/>
          <p:nvPr/>
        </p:nvSpPr>
        <p:spPr>
          <a:xfrm>
            <a:off x="5477256" y="3172968"/>
            <a:ext cx="1892808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1/61 + 1/64 = .0320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452360" y="3172968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E5F4F3"/>
          </a:solidFill>
          <a:ln/>
        </p:spPr>
      </p:sp>
      <p:sp>
        <p:nvSpPr>
          <p:cNvPr id="26" name="Text 24"/>
          <p:cNvSpPr/>
          <p:nvPr/>
        </p:nvSpPr>
        <p:spPr>
          <a:xfrm>
            <a:off x="7488936" y="3172968"/>
            <a:ext cx="1207008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— good at BOTH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3694176"/>
            <a:ext cx="2286000" cy="457200"/>
          </a:xfrm>
          <a:prstGeom prst="roundRect">
            <a:avLst>
              <a:gd name="adj" fmla="val 10000"/>
            </a:avLst>
          </a:prstGeom>
          <a:solidFill>
            <a:srgbClr val="EEF3F7"/>
          </a:solidFill>
          <a:ln/>
        </p:spPr>
      </p:sp>
      <p:sp>
        <p:nvSpPr>
          <p:cNvPr id="28" name="Text 26"/>
          <p:cNvSpPr/>
          <p:nvPr/>
        </p:nvSpPr>
        <p:spPr>
          <a:xfrm>
            <a:off x="539496" y="3694176"/>
            <a:ext cx="2212848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D-203 (warranty policy)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834640" y="3694176"/>
            <a:ext cx="1234440" cy="457200"/>
          </a:xfrm>
          <a:prstGeom prst="roundRect">
            <a:avLst>
              <a:gd name="adj" fmla="val 10000"/>
            </a:avLst>
          </a:prstGeom>
          <a:solidFill>
            <a:srgbClr val="EEF3F7"/>
          </a:solidFill>
          <a:ln/>
        </p:spPr>
      </p:sp>
      <p:sp>
        <p:nvSpPr>
          <p:cNvPr id="30" name="Text 28"/>
          <p:cNvSpPr/>
          <p:nvPr/>
        </p:nvSpPr>
        <p:spPr>
          <a:xfrm>
            <a:off x="2871216" y="3694176"/>
            <a:ext cx="1161288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0" y="3694176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EEF3F7"/>
          </a:solidFill>
          <a:ln/>
        </p:spPr>
      </p:sp>
      <p:sp>
        <p:nvSpPr>
          <p:cNvPr id="32" name="Text 30"/>
          <p:cNvSpPr/>
          <p:nvPr/>
        </p:nvSpPr>
        <p:spPr>
          <a:xfrm>
            <a:off x="4151376" y="3694176"/>
            <a:ext cx="1207008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3694176"/>
            <a:ext cx="1965960" cy="457200"/>
          </a:xfrm>
          <a:prstGeom prst="roundRect">
            <a:avLst>
              <a:gd name="adj" fmla="val 10000"/>
            </a:avLst>
          </a:prstGeom>
          <a:solidFill>
            <a:srgbClr val="EEF3F7"/>
          </a:solidFill>
          <a:ln/>
        </p:spPr>
      </p:sp>
      <p:sp>
        <p:nvSpPr>
          <p:cNvPr id="34" name="Text 32"/>
          <p:cNvSpPr/>
          <p:nvPr/>
        </p:nvSpPr>
        <p:spPr>
          <a:xfrm>
            <a:off x="5477256" y="3694176"/>
            <a:ext cx="1892808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1/63 + 1/62 = .0320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452360" y="3694176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EEF3F7"/>
          </a:solidFill>
          <a:ln/>
        </p:spPr>
      </p:sp>
      <p:sp>
        <p:nvSpPr>
          <p:cNvPr id="36" name="Text 34"/>
          <p:cNvSpPr/>
          <p:nvPr/>
        </p:nvSpPr>
        <p:spPr>
          <a:xfrm>
            <a:off x="7488936" y="3694176"/>
            <a:ext cx="1207008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second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02920" y="4215384"/>
            <a:ext cx="2286000" cy="457200"/>
          </a:xfrm>
          <a:prstGeom prst="roundRect">
            <a:avLst>
              <a:gd name="adj" fmla="val 10000"/>
            </a:avLst>
          </a:prstGeom>
          <a:solidFill>
            <a:srgbClr val="EEF3F7"/>
          </a:solidFill>
          <a:ln/>
        </p:spPr>
      </p:sp>
      <p:sp>
        <p:nvSpPr>
          <p:cNvPr id="38" name="Text 36"/>
          <p:cNvSpPr/>
          <p:nvPr/>
        </p:nvSpPr>
        <p:spPr>
          <a:xfrm>
            <a:off x="539496" y="4215384"/>
            <a:ext cx="2212848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P-104 (premium kettle)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834640" y="4215384"/>
            <a:ext cx="1234440" cy="457200"/>
          </a:xfrm>
          <a:prstGeom prst="roundRect">
            <a:avLst>
              <a:gd name="adj" fmla="val 10000"/>
            </a:avLst>
          </a:prstGeom>
          <a:solidFill>
            <a:srgbClr val="EEF3F7"/>
          </a:solidFill>
          <a:ln/>
        </p:spPr>
      </p:sp>
      <p:sp>
        <p:nvSpPr>
          <p:cNvPr id="40" name="Text 38"/>
          <p:cNvSpPr/>
          <p:nvPr/>
        </p:nvSpPr>
        <p:spPr>
          <a:xfrm>
            <a:off x="2871216" y="4215384"/>
            <a:ext cx="1161288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114800" y="4215384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EEF3F7"/>
          </a:solidFill>
          <a:ln/>
        </p:spPr>
      </p:sp>
      <p:sp>
        <p:nvSpPr>
          <p:cNvPr id="42" name="Text 40"/>
          <p:cNvSpPr/>
          <p:nvPr/>
        </p:nvSpPr>
        <p:spPr>
          <a:xfrm>
            <a:off x="4151376" y="4215384"/>
            <a:ext cx="1207008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440680" y="4215384"/>
            <a:ext cx="1965960" cy="457200"/>
          </a:xfrm>
          <a:prstGeom prst="roundRect">
            <a:avLst>
              <a:gd name="adj" fmla="val 10000"/>
            </a:avLst>
          </a:prstGeom>
          <a:solidFill>
            <a:srgbClr val="EEF3F7"/>
          </a:solidFill>
          <a:ln/>
        </p:spPr>
      </p:sp>
      <p:sp>
        <p:nvSpPr>
          <p:cNvPr id="44" name="Text 42"/>
          <p:cNvSpPr/>
          <p:nvPr/>
        </p:nvSpPr>
        <p:spPr>
          <a:xfrm>
            <a:off x="5477256" y="4215384"/>
            <a:ext cx="1892808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+ 1/61 = .0164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452360" y="4215384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EEF3F7"/>
          </a:solidFill>
          <a:ln/>
        </p:spPr>
      </p:sp>
      <p:sp>
        <p:nvSpPr>
          <p:cNvPr id="46" name="Text 44"/>
          <p:cNvSpPr/>
          <p:nvPr/>
        </p:nvSpPr>
        <p:spPr>
          <a:xfrm>
            <a:off x="7488936" y="4215384"/>
            <a:ext cx="1207008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vector-only hit sinks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02920" y="47548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60 damps dominance — being decent in BOTH lists beats being #1 in just one.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rest of the retrieval toolbox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987552"/>
          </a:xfrm>
          <a:prstGeom prst="roundRect">
            <a:avLst>
              <a:gd name="adj" fmla="val 6481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27632"/>
            <a:ext cx="475488" cy="475488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427" y="1751259"/>
            <a:ext cx="228234" cy="2282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444752"/>
            <a:ext cx="1691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Reranking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200400" y="1444752"/>
            <a:ext cx="3977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20 fast (hybrid), then a cross-encoder re-scores each (query, chunk) PAIR deeply and keeps the best 3. Slow model, tiny candidate set.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269480" y="1444752"/>
            <a:ext cx="1234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boost, Day 4 mention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02920" y="2478024"/>
            <a:ext cx="8138160" cy="987552"/>
          </a:xfrm>
          <a:prstGeom prst="roundRect">
            <a:avLst>
              <a:gd name="adj" fmla="val 6481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85800" y="2734056"/>
            <a:ext cx="475488" cy="475488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427" y="2857683"/>
            <a:ext cx="228234" cy="22823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7320" y="2551176"/>
            <a:ext cx="1691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rewriting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200400" y="2551176"/>
            <a:ext cx="3977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rewrites the customer's message into a better search query first (“that cheap one u showed b4” → “budget kettle Zenith 1.0L”).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7269480" y="2551176"/>
            <a:ext cx="1234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win for chat context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502920" y="3584448"/>
            <a:ext cx="8138160" cy="987552"/>
          </a:xfrm>
          <a:prstGeom prst="roundRect">
            <a:avLst>
              <a:gd name="adj" fmla="val 6481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85800" y="3840480"/>
            <a:ext cx="475488" cy="475488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427" y="3964107"/>
            <a:ext cx="228234" cy="22823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17320" y="3657600"/>
            <a:ext cx="1691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Multi-query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3200400" y="3657600"/>
            <a:ext cx="3977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3 paraphrases of the question, retrieve for all, RRF-merge the results — recall insurance for vague questions.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7269480" y="3657600"/>
            <a:ext cx="1234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RRF you learn today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for all of them: never add a stage without measuring it — which is exactly tomorrow's module.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PROOF, NOT VIBES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numbers should say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828800" cy="566928"/>
          </a:xfrm>
          <a:prstGeom prst="roundRect">
            <a:avLst>
              <a:gd name="adj" fmla="val 8065"/>
            </a:avLst>
          </a:prstGeom>
          <a:solidFill>
            <a:srgbClr val="1B1F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73736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377440" y="1371600"/>
            <a:ext cx="2148840" cy="566928"/>
          </a:xfrm>
          <a:prstGeom prst="roundRect">
            <a:avLst>
              <a:gd name="adj" fmla="val 8065"/>
            </a:avLst>
          </a:prstGeom>
          <a:solidFill>
            <a:srgbClr val="1B1F3B"/>
          </a:solidFill>
          <a:ln/>
        </p:spPr>
      </p:sp>
      <p:sp>
        <p:nvSpPr>
          <p:cNvPr id="7" name="Text 5"/>
          <p:cNvSpPr/>
          <p:nvPr/>
        </p:nvSpPr>
        <p:spPr>
          <a:xfrm>
            <a:off x="2423160" y="1371600"/>
            <a:ext cx="205740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0" y="1371600"/>
            <a:ext cx="1965960" cy="566928"/>
          </a:xfrm>
          <a:prstGeom prst="roundRect">
            <a:avLst>
              <a:gd name="adj" fmla="val 8065"/>
            </a:avLst>
          </a:prstGeom>
          <a:solidFill>
            <a:srgbClr val="1B1F3B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1371600"/>
            <a:ext cx="187452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583680" y="1371600"/>
            <a:ext cx="2011680" cy="566928"/>
          </a:xfrm>
          <a:prstGeom prst="roundRect">
            <a:avLst>
              <a:gd name="adj" fmla="val 8065"/>
            </a:avLst>
          </a:prstGeom>
          <a:solidFill>
            <a:srgbClr val="1B1F3B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1371600"/>
            <a:ext cx="192024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/ MRR expectation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020824"/>
            <a:ext cx="1828800" cy="566928"/>
          </a:xfrm>
          <a:prstGeom prst="roundRect">
            <a:avLst>
              <a:gd name="adj" fmla="val 8065"/>
            </a:avLst>
          </a:prstGeom>
          <a:solidFill>
            <a:srgbClr val="EEF3F7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020824"/>
            <a:ext cx="173736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77440" y="2020824"/>
            <a:ext cx="2148840" cy="566928"/>
          </a:xfrm>
          <a:prstGeom prst="roundRect">
            <a:avLst>
              <a:gd name="adj" fmla="val 8065"/>
            </a:avLst>
          </a:prstGeom>
          <a:solidFill>
            <a:srgbClr val="EEF3F7"/>
          </a:solidFill>
          <a:ln/>
        </p:spPr>
      </p:sp>
      <p:sp>
        <p:nvSpPr>
          <p:cNvPr id="15" name="Text 13"/>
          <p:cNvSpPr/>
          <p:nvPr/>
        </p:nvSpPr>
        <p:spPr>
          <a:xfrm>
            <a:off x="2423160" y="2020824"/>
            <a:ext cx="205740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IDs, numbers, specs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2020824"/>
            <a:ext cx="1965960" cy="566928"/>
          </a:xfrm>
          <a:prstGeom prst="roundRect">
            <a:avLst>
              <a:gd name="adj" fmla="val 8065"/>
            </a:avLst>
          </a:prstGeom>
          <a:solidFill>
            <a:srgbClr val="EEF3F7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2020824"/>
            <a:ext cx="187452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synonyms, Hinglish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83680" y="2020824"/>
            <a:ext cx="2011680" cy="566928"/>
          </a:xfrm>
          <a:prstGeom prst="roundRect">
            <a:avLst>
              <a:gd name="adj" fmla="val 8065"/>
            </a:avLst>
          </a:prstGeom>
          <a:solidFill>
            <a:srgbClr val="EEF3F7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2020824"/>
            <a:ext cx="192024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2670048"/>
            <a:ext cx="1828800" cy="566928"/>
          </a:xfrm>
          <a:prstGeom prst="roundRect">
            <a:avLst>
              <a:gd name="adj" fmla="val 8065"/>
            </a:avLst>
          </a:prstGeom>
          <a:solidFill>
            <a:srgbClr val="EEF3F7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670048"/>
            <a:ext cx="173736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(HNSW)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377440" y="2670048"/>
            <a:ext cx="2148840" cy="566928"/>
          </a:xfrm>
          <a:prstGeom prst="roundRect">
            <a:avLst>
              <a:gd name="adj" fmla="val 8065"/>
            </a:avLst>
          </a:prstGeom>
          <a:solidFill>
            <a:srgbClr val="EEF3F7"/>
          </a:solidFill>
          <a:ln/>
        </p:spPr>
      </p:sp>
      <p:sp>
        <p:nvSpPr>
          <p:cNvPr id="23" name="Text 21"/>
          <p:cNvSpPr/>
          <p:nvPr/>
        </p:nvSpPr>
        <p:spPr>
          <a:xfrm>
            <a:off x="2423160" y="2670048"/>
            <a:ext cx="205740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meaning, multilingual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2670048"/>
            <a:ext cx="1965960" cy="566928"/>
          </a:xfrm>
          <a:prstGeom prst="roundRect">
            <a:avLst>
              <a:gd name="adj" fmla="val 8065"/>
            </a:avLst>
          </a:prstGeom>
          <a:solidFill>
            <a:srgbClr val="EEF3F7"/>
          </a:solidFill>
          <a:ln/>
        </p:spPr>
      </p:sp>
      <p:sp>
        <p:nvSpPr>
          <p:cNvPr id="25" name="Text 23"/>
          <p:cNvSpPr/>
          <p:nvPr/>
        </p:nvSpPr>
        <p:spPr>
          <a:xfrm>
            <a:off x="4617720" y="2670048"/>
            <a:ext cx="187452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identifiers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83680" y="2670048"/>
            <a:ext cx="2011680" cy="566928"/>
          </a:xfrm>
          <a:prstGeom prst="roundRect">
            <a:avLst>
              <a:gd name="adj" fmla="val 8065"/>
            </a:avLst>
          </a:prstGeom>
          <a:solidFill>
            <a:srgbClr val="EEF3F7"/>
          </a:solidFill>
          <a:ln/>
        </p:spPr>
      </p:sp>
      <p:sp>
        <p:nvSpPr>
          <p:cNvPr id="27" name="Text 25"/>
          <p:cNvSpPr/>
          <p:nvPr/>
        </p:nvSpPr>
        <p:spPr>
          <a:xfrm>
            <a:off x="6629400" y="2670048"/>
            <a:ext cx="192024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BM25 overall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" y="3319272"/>
            <a:ext cx="1828800" cy="566928"/>
          </a:xfrm>
          <a:prstGeom prst="roundRect">
            <a:avLst>
              <a:gd name="adj" fmla="val 8065"/>
            </a:avLst>
          </a:prstGeom>
          <a:solidFill>
            <a:srgbClr val="E5F4F3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319272"/>
            <a:ext cx="173736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(RRF)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377440" y="3319272"/>
            <a:ext cx="2148840" cy="566928"/>
          </a:xfrm>
          <a:prstGeom prst="roundRect">
            <a:avLst>
              <a:gd name="adj" fmla="val 8065"/>
            </a:avLst>
          </a:prstGeom>
          <a:solidFill>
            <a:srgbClr val="E5F4F3"/>
          </a:solidFill>
          <a:ln/>
        </p:spPr>
      </p:sp>
      <p:sp>
        <p:nvSpPr>
          <p:cNvPr id="31" name="Text 29"/>
          <p:cNvSpPr/>
          <p:nvPr/>
        </p:nvSpPr>
        <p:spPr>
          <a:xfrm>
            <a:off x="2423160" y="3319272"/>
            <a:ext cx="205740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0" y="3319272"/>
            <a:ext cx="1965960" cy="566928"/>
          </a:xfrm>
          <a:prstGeom prst="roundRect">
            <a:avLst>
              <a:gd name="adj" fmla="val 8065"/>
            </a:avLst>
          </a:prstGeom>
          <a:solidFill>
            <a:srgbClr val="E5F4F3"/>
          </a:solidFill>
          <a:ln/>
        </p:spPr>
      </p:sp>
      <p:sp>
        <p:nvSpPr>
          <p:cNvPr id="33" name="Text 31"/>
          <p:cNvSpPr/>
          <p:nvPr/>
        </p:nvSpPr>
        <p:spPr>
          <a:xfrm>
            <a:off x="4617720" y="3319272"/>
            <a:ext cx="187452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583680" y="3319272"/>
            <a:ext cx="2011680" cy="566928"/>
          </a:xfrm>
          <a:prstGeom prst="roundRect">
            <a:avLst>
              <a:gd name="adj" fmla="val 8065"/>
            </a:avLst>
          </a:prstGeom>
          <a:solidFill>
            <a:srgbClr val="E5F4F3"/>
          </a:solidFill>
          <a:ln/>
        </p:spPr>
      </p:sp>
      <p:sp>
        <p:nvSpPr>
          <p:cNvPr id="35" name="Text 33"/>
          <p:cNvSpPr/>
          <p:nvPr/>
        </p:nvSpPr>
        <p:spPr>
          <a:xfrm>
            <a:off x="6629400" y="3319272"/>
            <a:ext cx="192024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best single, most stable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" y="4114800"/>
            <a:ext cx="8138160" cy="777240"/>
          </a:xfrm>
          <a:prstGeom prst="roundRect">
            <a:avLst>
              <a:gd name="adj" fmla="val 8235"/>
            </a:avLst>
          </a:prstGeom>
          <a:solidFill>
            <a:srgbClr val="E5F4F3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411480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expectation: </a:t>
            </a:r>
            <a:pPr indent="0" marL="0">
              <a:buNone/>
            </a:pPr>
            <a:r>
              <a:rPr lang="en-US" sz="12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our tiny 24-chunk corpus, hybrid may only tie the winner — its value shows on mixed real-world query traffic. That's WHY we keep the gold set: to know instead of hope.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RAGBot v0.2 → v0.3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886200" cy="1371600"/>
          </a:xfrm>
          <a:prstGeom prst="roundRect">
            <a:avLst>
              <a:gd name="adj" fmla="val 466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3619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RAGBot v0.2 (yesterday)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+ CA chunks — but in-memory numpy, no filters, loses on exact IDs.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926080"/>
            <a:ext cx="3886200" cy="1554480"/>
          </a:xfrm>
          <a:prstGeom prst="roundRect">
            <a:avLst>
              <a:gd name="adj" fmla="val 4118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309067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RAGBot v0.3 (today)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42900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collection with metadata · HNSW under the hood · hybrid BM25+vector retrieval via RRF · price/category filters on demand.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663440" y="13716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practical goals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63440" y="1810512"/>
            <a:ext cx="3977640" cy="457200"/>
          </a:xfrm>
          <a:prstGeom prst="roundRect">
            <a:avLst>
              <a:gd name="adj" fmla="val 12000"/>
            </a:avLst>
          </a:prstGeom>
          <a:solidFill>
            <a:srgbClr val="E5F4F3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8032" y="1911096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193792" y="18105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catalog + policies into Chroma (with metadata)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663440" y="2340864"/>
            <a:ext cx="3977640" cy="457200"/>
          </a:xfrm>
          <a:prstGeom prst="roundRect">
            <a:avLst>
              <a:gd name="adj" fmla="val 12000"/>
            </a:avLst>
          </a:prstGeom>
          <a:solidFill>
            <a:srgbClr val="E5F4F3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193792" y="234086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the timing race: HNSW vs brute force at 50k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663440" y="2871216"/>
            <a:ext cx="3977640" cy="457200"/>
          </a:xfrm>
          <a:prstGeom prst="roundRect">
            <a:avLst>
              <a:gd name="adj" fmla="val 12000"/>
            </a:avLst>
          </a:prstGeom>
          <a:solidFill>
            <a:srgbClr val="E5F4F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2971800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93792" y="287121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RRF in ~10 lines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663440" y="3401568"/>
            <a:ext cx="3977640" cy="457200"/>
          </a:xfrm>
          <a:prstGeom prst="roundRect">
            <a:avLst>
              <a:gd name="adj" fmla="val 12000"/>
            </a:avLst>
          </a:prstGeom>
          <a:solidFill>
            <a:srgbClr val="E5F4F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3502152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193792" y="34015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3-way eval: BM25 vs vectors vs hybrid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663440" y="3931920"/>
            <a:ext cx="3977640" cy="457200"/>
          </a:xfrm>
          <a:prstGeom prst="roundRect">
            <a:avLst>
              <a:gd name="adj" fmla="val 12000"/>
            </a:avLst>
          </a:prstGeom>
          <a:solidFill>
            <a:srgbClr val="E5F4F3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4032504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193792" y="39319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query: 'kitchen under ₹1,000'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30 MINUTES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Practical: real infrastructure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841248"/>
          </a:xfrm>
          <a:prstGeom prst="roundRect">
            <a:avLst>
              <a:gd name="adj" fmla="val 7609"/>
            </a:avLst>
          </a:prstGeom>
          <a:solidFill>
            <a:srgbClr val="2A3060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636776"/>
            <a:ext cx="502920" cy="502920"/>
          </a:xfrm>
          <a:prstGeom prst="ellipse">
            <a:avLst/>
          </a:prstGeom>
          <a:solidFill>
            <a:srgbClr val="3A417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991" y="1767535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536192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 into Chroma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886200" y="1536192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+ policy chunks with metadata; query with filters — 'kitchen under ₹1,000'.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2468880"/>
            <a:ext cx="8138160" cy="841248"/>
          </a:xfrm>
          <a:prstGeom prst="roundRect">
            <a:avLst>
              <a:gd name="adj" fmla="val 7609"/>
            </a:avLst>
          </a:prstGeom>
          <a:solidFill>
            <a:srgbClr val="2A3060"/>
          </a:solidFill>
          <a:ln/>
        </p:spPr>
      </p:sp>
      <p:sp>
        <p:nvSpPr>
          <p:cNvPr id="10" name="Shape 7"/>
          <p:cNvSpPr/>
          <p:nvPr/>
        </p:nvSpPr>
        <p:spPr>
          <a:xfrm>
            <a:off x="713232" y="2642616"/>
            <a:ext cx="502920" cy="502920"/>
          </a:xfrm>
          <a:prstGeom prst="ellipse">
            <a:avLst/>
          </a:prstGeom>
          <a:solidFill>
            <a:srgbClr val="3A417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91" y="2773375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542032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Race the index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886200" y="2542032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synthetic vectors: numpy brute force vs Chroma's HNSW, timed on your screen.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2920" y="3474720"/>
            <a:ext cx="8138160" cy="841248"/>
          </a:xfrm>
          <a:prstGeom prst="roundRect">
            <a:avLst>
              <a:gd name="adj" fmla="val 7609"/>
            </a:avLst>
          </a:prstGeom>
          <a:solidFill>
            <a:srgbClr val="2A3060"/>
          </a:solidFill>
          <a:ln/>
        </p:spPr>
      </p:sp>
      <p:sp>
        <p:nvSpPr>
          <p:cNvPr id="15" name="Shape 11"/>
          <p:cNvSpPr/>
          <p:nvPr/>
        </p:nvSpPr>
        <p:spPr>
          <a:xfrm>
            <a:off x="713232" y="3648456"/>
            <a:ext cx="502920" cy="502920"/>
          </a:xfrm>
          <a:prstGeom prst="ellipse">
            <a:avLst/>
          </a:prstGeom>
          <a:solidFill>
            <a:srgbClr val="3A417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" y="3779215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547872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 &amp; measure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3886200" y="3547872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 in 10 lines, then the 3-way eval: BM25 vs vectors vs hybrid on the gold set.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02920" y="45262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leave with RAGBot v0.3 — database-backed, hybrid, filtered — and the table that proves it.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ideas to keep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50208" cy="1207008"/>
          </a:xfrm>
          <a:prstGeom prst="roundRect">
            <a:avLst>
              <a:gd name="adj" fmla="val 530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73352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733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554480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Databases, not arrays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17320" y="1965960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persistence, metadata, updates, scale — behind one query API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90872" y="1371600"/>
            <a:ext cx="3950208" cy="1207008"/>
          </a:xfrm>
          <a:prstGeom prst="roundRect">
            <a:avLst>
              <a:gd name="adj" fmla="val 530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73752" y="1673352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1" name="Text 9"/>
          <p:cNvSpPr/>
          <p:nvPr/>
        </p:nvSpPr>
        <p:spPr>
          <a:xfrm>
            <a:off x="4873752" y="16733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605272" y="1554480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HNSW is the speed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605272" y="1965960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highways: ~99% recall at a tiny fraction of the work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816352"/>
            <a:ext cx="3950208" cy="1207008"/>
          </a:xfrm>
          <a:prstGeom prst="roundRect">
            <a:avLst>
              <a:gd name="adj" fmla="val 530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118104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1181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2999232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 ≠ search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17320" y="341071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constraints live in metadata; similarity ranks the rest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90872" y="2816352"/>
            <a:ext cx="3950208" cy="1207008"/>
          </a:xfrm>
          <a:prstGeom prst="roundRect">
            <a:avLst>
              <a:gd name="adj" fmla="val 530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73752" y="3118104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21" name="Text 19"/>
          <p:cNvSpPr/>
          <p:nvPr/>
        </p:nvSpPr>
        <p:spPr>
          <a:xfrm>
            <a:off x="4873752" y="31181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605272" y="2999232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 with ranks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605272" y="341071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RRF: 1/(60+rank), summed — decent-in-both beats best-in-one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42519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— Module 4: </a:t>
            </a:r>
            <a:pPr indent="0" marL="0">
              <a:buNone/>
            </a:pPr>
            <a:r>
              <a:rPr lang="en-US" sz="13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evaluation deep dive — P@k, R@k, F1, MRR formalised, plus RAGAS: faithfulness, answer relevancy, context precision &amp; recall for the WHOLE pipeline.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 Module 3 — Vector Stores: ChromaDB, HNSW &amp; Hybrid Search</dc:title>
  <dc:subject>PptxGenJS Presentation</dc:subject>
  <dc:creator>PMS RoBoTics Research Center</dc:creator>
  <cp:lastModifiedBy>PMS RoBoTics Research Center</cp:lastModifiedBy>
  <cp:revision>1</cp:revision>
  <dcterms:created xsi:type="dcterms:W3CDTF">2026-07-15T13:05:42Z</dcterms:created>
  <dcterms:modified xsi:type="dcterms:W3CDTF">2026-07-15T13:05:42Z</dcterms:modified>
</cp:coreProperties>
</file>
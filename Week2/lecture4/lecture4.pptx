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 of Week 2 — evaluation day. All week we measured retrieval by hand; today we formalise it AND finally grade what the bot SAYS, not just what it fetches: RAGAS-style metrics via LLM-as-judge. Tomorrow's graded project requires the eval report built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gap: retrieval metrics are solved (all week); generation quality is not. Perfect F1 can still produce bad answers (ignored context, wrong synthesis, missing caveats). Tomorrow's graded project requires today's eval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evaluation layers: retrieval (deterministic — set math on gold sets, run constantly) and generation (needs judgment — human or LLM judge; RAGAS = standard framework). Week 1's keyword tests were a crude Layer 2; today we do it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 recap with formulas: P@k (junk), R@k (miss), F1 (balance), MRR (top-of-list). Emphasize the P/R tension and always stating k. Students have computed these 3 days running — this slide makes it citable for interviews.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 set craft: sample real/ugly queries, write judging guidelines (inter-annotator agreement), size honestly (10=smoke, 50-100=signal), avoid tuning on the test set (leakage). Failures found in production are free gold-set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motivating failure: a policy-violating answer that passes keyword checks. Grading prose needs semantic judgment → LLM-as-judge with tight rubrics. Acknowledge imperfection upfront (slide 10 covers pitfalls).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Faithfulness: decompose answer into claims, verify each against context, score = fraction supported. Answer relevancy: reverse-generate questions from the answer, embed, cosine vs original — reuses Day 2's embeddings. Both built by hand in the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precision: judge rates usefulness of each retrieved chunk (semantic P@k, no gold IDs needed). Context recall: against a reference answer, check every needed fact exists in retrieved context (requires ground truth). Together they grade retrieval from the ANSWER's perspective.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triage table — today's most practically valuable slide. Each low metric points at a specific component and the day we built its fix. Four dials = diagnosis; one blended score = just a grade. Students keep this table for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judge biases + defenses: verbosity, position, self-preference, score inflation (binary claims &gt; 1-10 scales), rubric drift. Meta-rule: judge the judge — hand-verify samples. This is homework #2.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loop: one change → run harness → compare → keep/revert; failures feed the gold set. Frame as CI for AI. Week 4 (evaluation &amp; guardrails from the syllabus) extends this same loop to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Tomorrow's graded project spec: RAG SmartBot v1.0 + eval report (20+ gold set, retrieval table across 3 retrievers, RAGAS table, one diagnosed-and-fixed weakness via triage, known-limitations paragraph). Today's harness IS the report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Practical: build faithfulness (claim decomposition + verification), answer relevancy (reverse questions + embeddings), context P/R, then the EvalHarness over an eval set. Note: judge calls cost a bit more than usual labs — still well under a dollar for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Recap; tomorrow is Week 2's graded assembly day. Homework: extend gold set to 20+, judge-the-judge spot checks, plant-a-hallucination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Report Card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deep dive — retrieval metrics, RAGAS &amp; LLM-as-judge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02 · MODULE 04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VECTOR STORES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THEORY + PRACTICAL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left: is the ANSWER any good?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2606040"/>
          </a:xfrm>
          <a:prstGeom prst="roundRect">
            <a:avLst>
              <a:gd name="adj" fmla="val 2456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already measure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we FETCH the right chunks?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P@k, R@k, F1, MRR — computed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on every retriever this week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can't measure yet: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 the bot SAY the right thing?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faithful? relevant? complete?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→ RAG · BM25 ·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938528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938528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77840" y="193852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context-aware chunking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05456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77840" y="250545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HNSW · hybrid search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72384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72384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77840" y="307238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deep dive: RAGAS &amp; LLM-as-judge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39312"/>
            <a:ext cx="397764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63931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77840" y="3639312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RAG SmartBot + eval report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retriever with perfect F1 can still feed a bot that answers badly. Today we grade the whole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OF TRUTH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layers, two kinds of judges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371600"/>
          </a:xfrm>
          <a:prstGeom prst="roundRect">
            <a:avLst>
              <a:gd name="adj" fmla="val 4667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727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· Retrieval — deterministic metrics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1965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the right chunks come back?” Gold set + set math = P@k, R@k, F1, MRR. Same input → same score, every time. Cheap, fast, objective — run it on every change.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971800"/>
            <a:ext cx="8138160" cy="1371600"/>
          </a:xfrm>
          <a:prstGeom prst="roundRect">
            <a:avLst>
              <a:gd name="adj" fmla="val 4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3246120"/>
            <a:ext cx="548640" cy="54864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33887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1272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· Generation — judged metrics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54480" y="3520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ANSWER faithful, relevant, complete?” No keyword check can grade prose. You need judgment — human (gold standard, slow) or LLM-as-judge (scalable, imperfect). RAGAS is the standard framework here.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1's acceptance tests were keyword checks — Layer 2 with training wheels. Today the wheels come off.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1, FORMALIZED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numbers, precisely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Precision@k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23160" y="13258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|retrieved ∩ relevant| / 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32588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 detector — low P = you're stuffing noise into the prompt (and paying for it)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67128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67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Recall@k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23160" y="216712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|hits| / |relevant|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216712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detector — low R = the answer's raw material never arrived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008376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00837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23160" y="300837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2PR / (P + R)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300837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— one number to compare retrievers, chunkers, k values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849624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849624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MRR@k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23160" y="384962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mean( 1 / rank of first hit 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384962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top-of-list quality — THE metric when the LLM reads top-1 or users see one result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 FIGHT (bigger k: R↑ P↓) — that's why you report both, plus F1, at a stated 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sets: where good numbers come from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786384"/>
          </a:xfrm>
          <a:prstGeom prst="roundRect">
            <a:avLst>
              <a:gd name="adj" fmla="val 814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real queries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0" y="132588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actual customer traffic (or realistic personas) — not just queries you know will work. Include the ugly ones: typos, Hinglish, vague asks.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" y="2194560"/>
            <a:ext cx="8138160" cy="786384"/>
          </a:xfrm>
          <a:prstGeom prst="roundRect">
            <a:avLst>
              <a:gd name="adj" fmla="val 814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4963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19456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judging guidelines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219456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'Relevant = contains the fact needed to answer.' Two people following the guideline should agree ~90% — if not, tighten the guideline, not the judges.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2920" y="3063240"/>
            <a:ext cx="8138160" cy="786384"/>
          </a:xfrm>
          <a:prstGeom prst="roundRect">
            <a:avLst>
              <a:gd name="adj" fmla="val 814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6499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6324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honestly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474720" y="306324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queries = smoke test. 50–100 = trustworthy signal for a product this size. Grow it every time a real failure appears — failures are free gold.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02920" y="3931920"/>
            <a:ext cx="8138160" cy="786384"/>
          </a:xfrm>
          <a:prstGeom prst="roundRect">
            <a:avLst>
              <a:gd name="adj" fmla="val 814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336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3192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 against leakage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3474720" y="3931920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tune ON the set you report — split dev / test, or your numbers flatter you. (Same trap as ML train/test!)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02920" y="47914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13-query set was a classroom smoke test. Tomorrow's project ships with 20+.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2,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checks can't grade prose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96012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37160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“Can I return my kettle without a receipt?”   Context: [D-202: store credit only]   </a:t>
            </a:r>
            <a:pPr indent="0" marL="0">
              <a:buNone/>
            </a:pPr>
            <a:r>
              <a:rPr lang="en-US" sz="12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“Yes, absolutely — full refund, no receipt needed!”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51460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check says…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26080" y="2514600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'refund' ✓ 'receipt' ✓ — PASS. The check is happy; the answer is a policy violation that costs real money.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355848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35584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needs judging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26080" y="3355848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CLAIM in the answer follow from the retrieved context? Does the answer address THIS question? That's semantic judgment, not string matching.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4197096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19709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scalable judge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4197096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strong LLM, with a tight rubric, as the grader — LLM-as-judge. Imperfect (slide 10!) but consistent, fast, and cheap enough to run on every change.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RAGAS,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the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3063240"/>
          </a:xfrm>
          <a:prstGeom prst="roundRect">
            <a:avLst>
              <a:gd name="adj" fmla="val 209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every claim supported by the retrieved context?”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computed: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Judge LLM splits the answer into atomic claims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Each claim checked: supported by context? yes/no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 = supported / total claims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faithfulness = the bot is decorating the context with its own 'facts' — hallucination INSIDE a RAG pipeline.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3063240"/>
          </a:xfrm>
          <a:prstGeom prst="roundRect">
            <a:avLst>
              <a:gd name="adj" fmla="val 209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relevancy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19472" y="19019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the answer actually address the question asked?”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19472" y="2468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elegant trick (Day 2 callback!):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LLM writes 3 questions this answer WOULD answer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Embed them; cosine vs the real question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 = mean similarity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19472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relevancy = truthful but useless: 'we're open 9–9' when asked about returns. Faithful is not the same as helpful.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RAGAS,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Grading the context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3063240"/>
          </a:xfrm>
          <a:prstGeom prst="roundRect">
            <a:avLst>
              <a:gd name="adj" fmla="val 209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precision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 the chunks we sent, how many were actually useful — and were the useful ones ranked first?”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LLM rates each retrieved chunk's usefulness for THIS question. Like P@k — but judged semantically, no gold set needed.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you're paying tokens to distract your own bot.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3063240"/>
          </a:xfrm>
          <a:prstGeom prst="roundRect">
            <a:avLst>
              <a:gd name="adj" fmla="val 209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recall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19472" y="19019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the retrieved context contain everything the IDEAL answer needs?”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19472" y="26517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reference answer (ground truth): the judge checks each fact of the ideal answer — is it present in the retrieved context? Score = fraction found.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19472" y="3703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= retrieval starved the bot: even a perfect LLM couldn't answer well from this context.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dials → which component to fix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1371600"/>
            <a:ext cx="200253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(low metric)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1371600"/>
            <a:ext cx="2606040" cy="530352"/>
          </a:xfrm>
          <a:prstGeom prst="roundRect">
            <a:avLst>
              <a:gd name="adj" fmla="val 8621"/>
            </a:avLst>
          </a:prstGeom>
          <a:solidFill>
            <a:srgbClr val="1B1F3B"/>
          </a:solidFill>
          <a:ln/>
        </p:spPr>
      </p:sp>
      <p:sp>
        <p:nvSpPr>
          <p:cNvPr id="7" name="Text 5"/>
          <p:cNvSpPr/>
          <p:nvPr/>
        </p:nvSpPr>
        <p:spPr>
          <a:xfrm>
            <a:off x="2770632" y="1371600"/>
            <a:ext cx="245973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49240" y="1371600"/>
            <a:ext cx="3200400" cy="530352"/>
          </a:xfrm>
          <a:prstGeom prst="roundRect">
            <a:avLst>
              <a:gd name="adj" fmla="val 8621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5422392" y="1371600"/>
            <a:ext cx="305409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first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F7E6E3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1965960"/>
            <a:ext cx="200253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recall 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965960"/>
            <a:ext cx="2606040" cy="530352"/>
          </a:xfrm>
          <a:prstGeom prst="roundRect">
            <a:avLst>
              <a:gd name="adj" fmla="val 8621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2770632" y="1965960"/>
            <a:ext cx="245973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never found the material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1965960"/>
            <a:ext cx="3200400" cy="530352"/>
          </a:xfrm>
          <a:prstGeom prst="roundRect">
            <a:avLst>
              <a:gd name="adj" fmla="val 8621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5422392" y="1965960"/>
            <a:ext cx="305409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(D2) · hybrid/k (D3) · add documents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56032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F7E6E3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" y="2560320"/>
            <a:ext cx="200253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precision 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97480" y="2560320"/>
            <a:ext cx="2606040" cy="530352"/>
          </a:xfrm>
          <a:prstGeom prst="roundRect">
            <a:avLst>
              <a:gd name="adj" fmla="val 8621"/>
            </a:avLst>
          </a:prstGeom>
          <a:solidFill>
            <a:srgbClr val="EE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2770632" y="2560320"/>
            <a:ext cx="245973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stuff buried in junk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2560320"/>
            <a:ext cx="3200400" cy="530352"/>
          </a:xfrm>
          <a:prstGeom prst="roundRect">
            <a:avLst>
              <a:gd name="adj" fmla="val 8621"/>
            </a:avLst>
          </a:prstGeom>
          <a:solidFill>
            <a:srgbClr val="EE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5422392" y="2560320"/>
            <a:ext cx="305409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k · reranking · better chunk boundaries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15468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F7E6E3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" y="3154680"/>
            <a:ext cx="200253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Faithfulness 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97480" y="3154680"/>
            <a:ext cx="2606040" cy="530352"/>
          </a:xfrm>
          <a:prstGeom prst="roundRect">
            <a:avLst>
              <a:gd name="adj" fmla="val 8621"/>
            </a:avLst>
          </a:prstGeom>
          <a:solidFill>
            <a:srgbClr val="EEF3F7"/>
          </a:solidFill>
          <a:ln/>
        </p:spPr>
      </p:sp>
      <p:sp>
        <p:nvSpPr>
          <p:cNvPr id="25" name="Text 23"/>
          <p:cNvSpPr/>
          <p:nvPr/>
        </p:nvSpPr>
        <p:spPr>
          <a:xfrm>
            <a:off x="2770632" y="3154680"/>
            <a:ext cx="245973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ignores/embellishes context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3154680"/>
            <a:ext cx="3200400" cy="530352"/>
          </a:xfrm>
          <a:prstGeom prst="roundRect">
            <a:avLst>
              <a:gd name="adj" fmla="val 8621"/>
            </a:avLst>
          </a:prstGeom>
          <a:solidFill>
            <a:srgbClr val="EEF3F7"/>
          </a:solidFill>
          <a:ln/>
        </p:spPr>
      </p:sp>
      <p:sp>
        <p:nvSpPr>
          <p:cNvPr id="27" name="Text 25"/>
          <p:cNvSpPr/>
          <p:nvPr/>
        </p:nvSpPr>
        <p:spPr>
          <a:xfrm>
            <a:off x="5422392" y="3154680"/>
            <a:ext cx="305409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prompt (D1) · temperature ↓ · cite rule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74904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F7E6E3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" y="3749040"/>
            <a:ext cx="200253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5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relevancy 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97480" y="3749040"/>
            <a:ext cx="2606040" cy="530352"/>
          </a:xfrm>
          <a:prstGeom prst="roundRect">
            <a:avLst>
              <a:gd name="adj" fmla="val 8621"/>
            </a:avLst>
          </a:prstGeom>
          <a:solidFill>
            <a:srgbClr val="EEF3F7"/>
          </a:solidFill>
          <a:ln/>
        </p:spPr>
      </p:sp>
      <p:sp>
        <p:nvSpPr>
          <p:cNvPr id="31" name="Text 29"/>
          <p:cNvSpPr/>
          <p:nvPr/>
        </p:nvSpPr>
        <p:spPr>
          <a:xfrm>
            <a:off x="2770632" y="3749040"/>
            <a:ext cx="245973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wrong question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3749040"/>
            <a:ext cx="3200400" cy="530352"/>
          </a:xfrm>
          <a:prstGeom prst="roundRect">
            <a:avLst>
              <a:gd name="adj" fmla="val 8621"/>
            </a:avLst>
          </a:prstGeom>
          <a:solidFill>
            <a:srgbClr val="EEF3F7"/>
          </a:solidFill>
          <a:ln/>
        </p:spPr>
      </p:sp>
      <p:sp>
        <p:nvSpPr>
          <p:cNvPr id="33" name="Text 31"/>
          <p:cNvSpPr/>
          <p:nvPr/>
        </p:nvSpPr>
        <p:spPr>
          <a:xfrm>
            <a:off x="5422392" y="3749040"/>
            <a:ext cx="3054096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TASK part · query rewriting (D3)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407408"/>
            <a:ext cx="8138160" cy="502920"/>
          </a:xfrm>
          <a:prstGeom prst="roundRect">
            <a:avLst>
              <a:gd name="adj" fmla="val 12727"/>
            </a:avLst>
          </a:prstGeom>
          <a:solidFill>
            <a:srgbClr val="E5F4F3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40740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RAGAS beats a single 'quality score': </a:t>
            </a:r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dials point at four different components. Diagnosis, not just grades.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LLM-as-judge: biases &amp; defenses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44752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220" y="1544604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2588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Verbosity bias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17520" y="13258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prefer LONGER answers, right or not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13258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rubric: 'ignore length'; score claims, not style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029968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2148840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20" y="2248692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029968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bias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017520" y="202996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A-vs-B comparisons, position A wins more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760720" y="202996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order, average both runs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2734056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" y="2852928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20" y="2952780"/>
            <a:ext cx="184343" cy="1843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2734056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Self-preference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017520" y="273405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rate their own outputs higher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760720" y="273405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with a different model than the generator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3438144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" y="3557016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20" y="3656868"/>
            <a:ext cx="184343" cy="18434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34440" y="3438144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inflation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3017520" y="343814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gets 8/10; nothing differentiates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760720" y="343814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checks per claim beat 1–10 vibes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02920" y="4142232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58368" y="4261104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20" y="4360956"/>
            <a:ext cx="184343" cy="18434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34440" y="4142232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 drift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017520" y="41422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rubric → judge invents its own criteria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760720" y="41422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yes/no questions; few-shot judge examples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02920" y="4892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always: judge the judge — hand-verify a sample of its verdicts before trusting the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as a habit, not an event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Change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624328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only: chunking,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k, prompt, or model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51760" y="141732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834640" y="160020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399" y="1730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Measure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34640" y="2624328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metrics (instant) plus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RAGAS suite (small cost)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800600" y="141732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83480" y="160020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239" y="17309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8348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Compare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83480" y="2624328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last run — did the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pay for its complexity?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949440" y="1417320"/>
            <a:ext cx="1874520" cy="1965960"/>
          </a:xfrm>
          <a:prstGeom prst="roundRect">
            <a:avLst>
              <a:gd name="adj" fmla="val 341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0" y="1600200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079" y="17309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2240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Decide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32320" y="2624328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 revert, wins merge;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join the gold set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02920" y="3703320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77240" y="37033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CI for AI systems. </a:t>
            </a:r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teams run the harness on every prompt/index change — exactly like unit tests on every commit. Your Week 4 guardrails plug into this same loop.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graded mini-project, specified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3017520"/>
          </a:xfrm>
          <a:prstGeom prst="roundRect">
            <a:avLst>
              <a:gd name="adj" fmla="val 21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428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73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SmartBot v1.0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syllabus: your Week 1 chatbot + RAG over product catalog &amp; inventory/policy documents. ChromaDB, context-aware chunks, hybrid retrieval — everything this week built.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like Week 1: acceptance tests + rubric + demo.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report tomorrow's rubric demands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181051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110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93792" y="1810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query gold set (incl. ugly queries)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63440" y="2340864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44144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93792" y="2340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table: P@k · R@k · F1 · MRR, 3 retrievers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63440" y="2871216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97180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93792" y="2871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table: faith · relevancy · context P/R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663440" y="3401568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50215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93792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diagnosed &amp; fixed weakness (triage!)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663440" y="393192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E5F4F3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032504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93792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'known limitations' paragraph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build the judge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faithfulness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86200" y="153619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splitter + claim checker — then catch a planted hallucination red-handed.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more metrics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86200" y="254203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 (the reverse-question trick), context precision &amp; recall.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report card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886200" y="354787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EvalHarness runs everything over an eval set → the exact table tomorrow's project requires.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leave with a working eval harness — and RAGBot v0.3's first honest report card.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to keep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 of truth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retrieval math + judged generation quality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05272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RAGAS = four dials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05272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· relevancy · context precision · context recall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Dials → diagnosis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low metric names the broken component AND its fix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0872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the judge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05272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judges have biases — binary claims, swapped orders, spot checks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assembly day: </a:t>
            </a:r>
            <a:pPr indent="0" marL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SmartBot v1.0, graded — the bot from Days 1–3 plus the report card from today. Bring your tuned settings and your gold set.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Module 4 — Evaluation Deep Dive: Retrieval Metrics &amp; RAGAS</dc:title>
  <dc:subject>PptxGenJS Presentation</dc:subject>
  <dc:creator>PMS RoBoTics Research Center</dc:creator>
  <cp:lastModifiedBy>PMS RoBoTics Research Center</cp:lastModifiedBy>
  <cp:revision>1</cp:revision>
  <dcterms:created xsi:type="dcterms:W3CDTF">2026-07-16T06:04:26Z</dcterms:created>
  <dcterms:modified xsi:type="dcterms:W3CDTF">2026-07-16T06:04:26Z</dcterms:modified>
</cp:coreProperties>
</file>
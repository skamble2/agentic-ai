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of Week 2. Yesterday: BM25 baseline + metrics; homework proved BM25 fails on synonyms with falling F1/MRR. Today: embeddings (meaning as vectors) fix that, plus the context-aware chunking deep dive. Everything gets measured against yesterday's gold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Debrief homework: adding synonym/Hinglish queries tanked F1/MRR — exactly the predicted blind spot. Today's two fixes: embeddings (meaning) + context-aware chunking (better retrieval units). Everything re-measured on the same gold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definition: embedding = text → vector (e.g. 1,536 dims). The single property that matters: semantic similarity = geometric proximity, independent of surface strings. This is how the model 'understands' — meaning becomes geometry.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Cosine similarity = angle between vectors; 1 same meaning, 0 unrelated. Similar items cluster (kitchen/cleaning/gadgets). Modern embedding models are multilingual — 'sasta kettle' lands near budget kettles. You compute these numbers yourself in the 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Embeddings API: one call, batched inputs, text-embedding-3-small at ~$0.02/1M tokens. Key mechanics: embed chunks once at index time, embed only the query at question time. Multilingual for free. Open-source alternative: sentence-transformers — same trade-off discussion as Week 1 Day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pipeline: embed chunks once → embed query → cosine against all → top-k. Scale caveat: brute force dies at millions of vectors; ANN indexes (HNSW — layered graph, milliseconds) fix it — tomorrow with ChromaDB. Today numpy brute force on 24 chunks.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failure modes of naive chunking: mid-sentence cuts, orphaned pronouns, merged topics, lost headers. Fixed-size chunking creates all four. Yesterday's one-product-one-chunk catalog was safe by construction; today's messy policy doc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rules of context-aware chunking: split on structure, one topic per chunk, inject title+headers into chunk text (rule 3 is the signature move), overlap edges 10-15%. Size 100-300 tokens for Q&amp;A. Practical: chunk the same messy doc three ways and MEASURE the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 results table (ranges, not promises — their run produces the real numbers): embeddings lift F1/MRR on the synonym-extended gold set; CA chunking lifts policy-question accuracy further. The habit: one change → same eval → compare. That's Day 4's discipline.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 the story: embeddings lose on exact identifiers, precise numbers, unseen words — exactly where BM25 wins. Complementary failure modes → hybrid search (tomorrow). The practical demonstrates the X-500 query going wrong on pure embeddings.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retriever: normalise vectors → dot product = cosine → argsort top-k. Key design point: same retrieve(query,k) interface as BM25, so RAG loop and eval harness are unchanged — swap component, re-measure. That's good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v0.1→v0.2: semantic retrieval + context-aware chunked policy doc + before/after metrics. Keep BM25 alive — tomorrow's hybrid combines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Practical: touch vectors → swap retriever + head-to-head eval → chunking lab on a messy policy doc. Deliverable: v0.2 + comparison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Recap; preview Day 3 (ChromaDB, HNSW internals, hybrid search). Homework: chunk a document from their own college/life context-aware, build a 5-query gold set, report F1.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ROBOTICS RESEARCH CENTER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 as Numbers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embeddings &amp; context-aware chunking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635240" y="411480"/>
            <a:ext cx="868680" cy="868680"/>
          </a:xfrm>
          <a:prstGeom prst="ellipse">
            <a:avLst/>
          </a:prstGeom>
          <a:solidFill>
            <a:srgbClr val="2A30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1097" y="637337"/>
            <a:ext cx="416966" cy="4169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97764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9776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02 · MODULE 02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88920" y="39776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10" name="Text 7"/>
          <p:cNvSpPr/>
          <p:nvPr/>
        </p:nvSpPr>
        <p:spPr>
          <a:xfrm>
            <a:off x="278892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VECTOR STORES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97880" y="39776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12" name="Text 9"/>
          <p:cNvSpPr/>
          <p:nvPr/>
        </p:nvSpPr>
        <p:spPr>
          <a:xfrm>
            <a:off x="589788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· THEORY + PRACTICAL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homework already proved today's thesis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86200" cy="2606040"/>
          </a:xfrm>
          <a:prstGeom prst="roundRect">
            <a:avLst>
              <a:gd name="adj" fmla="val 2456"/>
            </a:avLst>
          </a:prstGeom>
          <a:solidFill>
            <a:srgbClr val="F7E6E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 results (typical)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429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 10-query gold set: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≈ 0.6–0.7 · MRR ≈ 0.8+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+ 3 synonym / Hinglish queries: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drops ~0.2 · MRR sinks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“sasta kettle dikhao” → BM25 score: 0.00 — zero shared strings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5F4F3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371600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577840" y="1371600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→ RAG · BM25 · metrics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938528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1B1F3B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938528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577840" y="1938528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context-aware chunking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505456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505456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577840" y="2505456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· HNSW · hybrid search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072384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3072384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577840" y="3072384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deep dive: RAGAS &amp; friends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639312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639312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577840" y="3639312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Mini-project: RAG SmartBot + eval report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2062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matches strings. Customers speak in meaning. Today we close that gap — and re-measure.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embedding turns text into a point in space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206240" cy="3017520"/>
          </a:xfrm>
          <a:prstGeom prst="roundRect">
            <a:avLst>
              <a:gd name="adj" fmla="val 2121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72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embed("electric kettle")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[ 0.021, -0.117,  0.093,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0.004,  0.256, -0.038,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...1,536 numbers total 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vector: one point in a 1,536-dimensional space. You can't picture 1,536 dimensions — but the MATH of 'nearby' works exactly like in 2D.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83480" y="1371600"/>
            <a:ext cx="3657600" cy="3017520"/>
          </a:xfrm>
          <a:prstGeom prst="roundRect">
            <a:avLst>
              <a:gd name="adj" fmla="val 2121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12080" y="157276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2839" y="1703527"/>
            <a:ext cx="241402" cy="24140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85216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property that matters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212080" y="22402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 with similar MEANING land at nearby points — regardless of the words used.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212080" y="297180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“electric kettle” ≈ “chai banane ki machine” ≈ “something to boil water”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…all neighbours in embedding space, despite zero shared strings.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'NEARBY'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Cosine similarity — one number, −1 to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3017520"/>
          </a:xfrm>
          <a:prstGeom prst="roundRect">
            <a:avLst>
              <a:gd name="adj" fmla="val 212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087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the space (2D cartoon of 1,536D):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051560" y="2148840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9514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kettle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14400" y="2606040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75234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 maker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91640" y="2377440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52374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maker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063240" y="2103120"/>
            <a:ext cx="146304" cy="146304"/>
          </a:xfrm>
          <a:prstGeom prst="ellipse">
            <a:avLst/>
          </a:prstGeom>
          <a:solidFill>
            <a:srgbClr val="7A6FA8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224942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vacuum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83280" y="2514600"/>
            <a:ext cx="146304" cy="146304"/>
          </a:xfrm>
          <a:prstGeom prst="ellipse">
            <a:avLst/>
          </a:prstGeom>
          <a:solidFill>
            <a:srgbClr val="7A6FA8"/>
          </a:solidFill>
          <a:ln/>
        </p:spPr>
      </p:sp>
      <p:sp>
        <p:nvSpPr>
          <p:cNvPr id="15" name="Text 13"/>
          <p:cNvSpPr/>
          <p:nvPr/>
        </p:nvSpPr>
        <p:spPr>
          <a:xfrm>
            <a:off x="3063240" y="266090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mop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194560" y="3657600"/>
            <a:ext cx="146304" cy="146304"/>
          </a:xfrm>
          <a:prstGeom prst="ellipse">
            <a:avLst/>
          </a:prstGeom>
          <a:solidFill>
            <a:srgbClr val="F4B860"/>
          </a:solidFill>
          <a:ln/>
        </p:spPr>
      </p:sp>
      <p:sp>
        <p:nvSpPr>
          <p:cNvPr id="17" name="Text 15"/>
          <p:cNvSpPr/>
          <p:nvPr/>
        </p:nvSpPr>
        <p:spPr>
          <a:xfrm>
            <a:off x="1874520" y="380390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smartwatch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834640" y="3840480"/>
            <a:ext cx="146304" cy="146304"/>
          </a:xfrm>
          <a:prstGeom prst="ellipse">
            <a:avLst/>
          </a:prstGeom>
          <a:solidFill>
            <a:srgbClr val="F4B860"/>
          </a:solidFill>
          <a:ln/>
        </p:spPr>
      </p:sp>
      <p:sp>
        <p:nvSpPr>
          <p:cNvPr id="19" name="Text 17"/>
          <p:cNvSpPr/>
          <p:nvPr/>
        </p:nvSpPr>
        <p:spPr>
          <a:xfrm>
            <a:off x="2514600" y="39867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earbuds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3152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cluster · cleaning cluster · gadgets cluster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90872" y="1371600"/>
            <a:ext cx="3950208" cy="1371600"/>
          </a:xfrm>
          <a:prstGeom prst="roundRect">
            <a:avLst>
              <a:gd name="adj" fmla="val 4667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cosine(A, B) = A·B / (|A||B|)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190195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angle between two vectors: 1 = same direction (same meaning), 0 = unrelated, −1 = opposite.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90872" y="2926080"/>
            <a:ext cx="3950208" cy="438912"/>
          </a:xfrm>
          <a:prstGeom prst="roundRect">
            <a:avLst>
              <a:gd name="adj" fmla="val 10417"/>
            </a:avLst>
          </a:prstGeom>
          <a:solidFill>
            <a:srgbClr val="EEF3F7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292608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“kettle” vs “chai maker”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52360" y="29260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0.78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90872" y="3438144"/>
            <a:ext cx="3950208" cy="438912"/>
          </a:xfrm>
          <a:prstGeom prst="roundRect">
            <a:avLst>
              <a:gd name="adj" fmla="val 10417"/>
            </a:avLst>
          </a:prstGeom>
          <a:solidFill>
            <a:srgbClr val="EEF3F7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343814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“kettle” vs “robot vacuum”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52360" y="343814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0.35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90872" y="3950208"/>
            <a:ext cx="3950208" cy="438912"/>
          </a:xfrm>
          <a:prstGeom prst="roundRect">
            <a:avLst>
              <a:gd name="adj" fmla="val 10417"/>
            </a:avLst>
          </a:prstGeom>
          <a:solidFill>
            <a:srgbClr val="EEF3F7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95020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“sasta kettle” vs budget kettle chunk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52360" y="395020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high! (cross-lingual)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embeddings: one API call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754880" cy="1828800"/>
          </a:xfrm>
          <a:prstGeom prst="roundRect">
            <a:avLst>
              <a:gd name="adj" fmla="val 35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4297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client.embeddings.create(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model="text-embedding-3-small",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input=["chunk one", "chunk two"],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 = r.data[0].embedding   # 1,536 floats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0" y="1371600"/>
            <a:ext cx="3154680" cy="932688"/>
          </a:xfrm>
          <a:prstGeom prst="roundRect">
            <a:avLst>
              <a:gd name="adj" fmla="val 5882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50992" y="1499616"/>
            <a:ext cx="402336" cy="402336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5599" y="1604223"/>
            <a:ext cx="193121" cy="1931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7220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Absurdly cheap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669280" y="181051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~$0.02 per MILLION tokens — embedding our whole catalog costs a fraction of a paisa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486400" y="2423160"/>
            <a:ext cx="3154680" cy="932688"/>
          </a:xfrm>
          <a:prstGeom prst="roundRect">
            <a:avLst>
              <a:gd name="adj" fmla="val 5882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50992" y="2551176"/>
            <a:ext cx="402336" cy="402336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599" y="2655783"/>
            <a:ext cx="193121" cy="1931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172200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 once, reuse forever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669280" y="286207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are embedded at index time; only the QUERY is embedded per question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5486400" y="3474720"/>
            <a:ext cx="3154680" cy="932688"/>
          </a:xfrm>
          <a:prstGeom prst="roundRect">
            <a:avLst>
              <a:gd name="adj" fmla="val 5882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650992" y="3602736"/>
            <a:ext cx="402336" cy="402336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5599" y="3707343"/>
            <a:ext cx="193121" cy="1931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2200" y="3566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Multilingual by default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669280" y="391363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models map Hindi, Hinglish and English into the SAME space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502920" y="3429000"/>
            <a:ext cx="4754880" cy="1051560"/>
          </a:xfrm>
          <a:prstGeom prst="roundRect">
            <a:avLst>
              <a:gd name="adj" fmla="val 6087"/>
            </a:avLst>
          </a:prstGeom>
          <a:solidFill>
            <a:srgbClr val="E5F4F3"/>
          </a:solidFill>
          <a:ln/>
        </p:spPr>
      </p:sp>
      <p:sp>
        <p:nvSpPr>
          <p:cNvPr id="22" name="Text 17"/>
          <p:cNvSpPr/>
          <p:nvPr/>
        </p:nvSpPr>
        <p:spPr>
          <a:xfrm>
            <a:off x="731520" y="342900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route: </a:t>
            </a:r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(e.g. all-MiniLM, bge, e5 families) runs free on your own machine — same idea, you host the model. Trade-off mirrors Day 3 of Week 1.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search = nearest neighbours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810512" cy="1371600"/>
          </a:xfrm>
          <a:prstGeom prst="roundRect">
            <a:avLst>
              <a:gd name="adj" fmla="val 466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54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Index time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every chunk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store vectors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1965960"/>
            <a:ext cx="237744" cy="2377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624328" y="1417320"/>
            <a:ext cx="1810512" cy="1371600"/>
          </a:xfrm>
          <a:prstGeom prst="roundRect">
            <a:avLst>
              <a:gd name="adj" fmla="val 466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761488" y="1554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Query time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761488" y="1920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question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 cheap call)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1965960"/>
            <a:ext cx="237744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745736" y="1417320"/>
            <a:ext cx="1810512" cy="1371600"/>
          </a:xfrm>
          <a:prstGeom prst="roundRect">
            <a:avLst>
              <a:gd name="adj" fmla="val 4667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882896" y="1554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Compare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882896" y="1920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vs every chunk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1965960"/>
            <a:ext cx="237744" cy="2377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867144" y="1417320"/>
            <a:ext cx="1810512" cy="1371600"/>
          </a:xfrm>
          <a:prstGeom prst="roundRect">
            <a:avLst>
              <a:gd name="adj" fmla="val 4667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7004304" y="1554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Top-k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7004304" y="1920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scores win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into the prompt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02920" y="3063240"/>
            <a:ext cx="8138160" cy="960120"/>
          </a:xfrm>
          <a:prstGeom prst="roundRect">
            <a:avLst>
              <a:gd name="adj" fmla="val 666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13232" y="3246120"/>
            <a:ext cx="502920" cy="502920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91" y="337687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06324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catch: </a:t>
            </a:r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against EVERY vector is fine for 24 chunks — and hopeless for 10 million. Real vector stores use approximate nearest-neighbour indexes — the famous one is HNSW, a layered graph that finds neighbours in milliseconds. That's tomorrow, inside ChromaDB.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02920" y="42519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brute-force 24 chunks with numpy — honest, simple, and exactly what a vector DB automates.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DIVE,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 chunking poisons good embeddings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795528"/>
          </a:xfrm>
          <a:prstGeom prst="roundRect">
            <a:avLst>
              <a:gd name="adj" fmla="val 6897"/>
            </a:avLst>
          </a:prstGeom>
          <a:solidFill>
            <a:srgbClr val="F7E6E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25880"/>
            <a:ext cx="1783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Mid-sentence cuts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606040" y="1325880"/>
            <a:ext cx="2926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“...refund within 7 | days with receipt...”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0" y="1325880"/>
            <a:ext cx="2834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halves embed to mush — neither says the policy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2212848"/>
            <a:ext cx="8138160" cy="795528"/>
          </a:xfrm>
          <a:prstGeom prst="roundRect">
            <a:avLst>
              <a:gd name="adj" fmla="val 6897"/>
            </a:avLst>
          </a:prstGeom>
          <a:solidFill>
            <a:srgbClr val="F7E6E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212848"/>
            <a:ext cx="1783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Orphaned pronouns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06040" y="2212848"/>
            <a:ext cx="2926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“It must be unopened and in original packaging.”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0" y="2212848"/>
            <a:ext cx="2834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'it'?? The embedding can't know — the subject was 2 paragraphs up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3099816"/>
            <a:ext cx="8138160" cy="795528"/>
          </a:xfrm>
          <a:prstGeom prst="roundRect">
            <a:avLst>
              <a:gd name="adj" fmla="val 6897"/>
            </a:avLst>
          </a:prstGeom>
          <a:solidFill>
            <a:srgbClr val="F7E6E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099816"/>
            <a:ext cx="1783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Merged topics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06040" y="3099816"/>
            <a:ext cx="2926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chunk = half of returns + half of warranty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0" y="3099816"/>
            <a:ext cx="2834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vector lands BETWEEN topics — near neither query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986784"/>
            <a:ext cx="8138160" cy="795528"/>
          </a:xfrm>
          <a:prstGeom prst="roundRect">
            <a:avLst>
              <a:gd name="adj" fmla="val 6897"/>
            </a:avLst>
          </a:prstGeom>
          <a:solidFill>
            <a:srgbClr val="F7E6E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986784"/>
            <a:ext cx="1783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Lost headers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606040" y="3986784"/>
            <a:ext cx="2926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“...within 30 days.” (from which section?)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9280" y="3986784"/>
            <a:ext cx="2834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Warranty? Returns? Exchange? The chunk forgot its own context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4892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chunking creates ALL four. Yesterday's catalog dodged this — real documents won't.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CRAFT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Context-aware chunking: four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786384"/>
          </a:xfrm>
          <a:prstGeom prst="roundRect">
            <a:avLst>
              <a:gd name="adj" fmla="val 814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276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2588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Split on structure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11880" y="1325880"/>
            <a:ext cx="4892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→ paragraphs → sentences (recursive). Never mid-sentence. Respect what the author already grouped.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2194560"/>
            <a:ext cx="8138160" cy="786384"/>
          </a:xfrm>
          <a:prstGeom prst="roundRect">
            <a:avLst>
              <a:gd name="adj" fmla="val 814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2377440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4963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19456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One topic per chunk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11880" y="2194560"/>
            <a:ext cx="4892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chunk should answer ONE kind of question. Returns and warranty are different chunks, always.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" y="3063240"/>
            <a:ext cx="8138160" cy="786384"/>
          </a:xfrm>
          <a:prstGeom prst="roundRect">
            <a:avLst>
              <a:gd name="adj" fmla="val 8140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36499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06324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Inject the context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611880" y="3063240"/>
            <a:ext cx="4892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Prepend the doc title + section header into every chunk's text: “[Returns Policy &gt; No Receipt] Store credit only...” — now the chunk explains itself.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02920" y="3931920"/>
            <a:ext cx="8138160" cy="786384"/>
          </a:xfrm>
          <a:prstGeom prst="roundRect">
            <a:avLst>
              <a:gd name="adj" fmla="val 814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4114800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23367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93192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Overlap the edges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3611880" y="3931920"/>
            <a:ext cx="4892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~10-15% of text between neighbouring chunks so facts near a boundary exist fully in at least one chunk.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02920" y="47914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guideline: 100–300 tokens per chunk for Q&amp;A — big enough to mean something, small enough to be precise.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VIBES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gold set, re-measured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377440" cy="603504"/>
          </a:xfrm>
          <a:prstGeom prst="roundRect">
            <a:avLst>
              <a:gd name="adj" fmla="val 7576"/>
            </a:avLst>
          </a:prstGeom>
          <a:solidFill>
            <a:srgbClr val="1B1F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228600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926080" y="1371600"/>
            <a:ext cx="1737360" cy="603504"/>
          </a:xfrm>
          <a:prstGeom prst="roundRect">
            <a:avLst>
              <a:gd name="adj" fmla="val 7576"/>
            </a:avLst>
          </a:prstGeom>
          <a:solidFill>
            <a:srgbClr val="1B1F3B"/>
          </a:solidFill>
          <a:ln/>
        </p:spPr>
      </p:sp>
      <p:sp>
        <p:nvSpPr>
          <p:cNvPr id="7" name="Text 5"/>
          <p:cNvSpPr/>
          <p:nvPr/>
        </p:nvSpPr>
        <p:spPr>
          <a:xfrm>
            <a:off x="2971800" y="1371600"/>
            <a:ext cx="164592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(mean)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1234440" cy="603504"/>
          </a:xfrm>
          <a:prstGeom prst="roundRect">
            <a:avLst>
              <a:gd name="adj" fmla="val 7576"/>
            </a:avLst>
          </a:prstGeom>
          <a:solidFill>
            <a:srgbClr val="1B1F3B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371600"/>
            <a:ext cx="114300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MRR@3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89320" y="1371600"/>
            <a:ext cx="2743200" cy="603504"/>
          </a:xfrm>
          <a:prstGeom prst="roundRect">
            <a:avLst>
              <a:gd name="adj" fmla="val 7576"/>
            </a:avLst>
          </a:prstGeom>
          <a:solidFill>
            <a:srgbClr val="1B1F3B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371600"/>
            <a:ext cx="265176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057400"/>
            <a:ext cx="2377440" cy="603504"/>
          </a:xfrm>
          <a:prstGeom prst="roundRect">
            <a:avLst>
              <a:gd name="adj" fmla="val 7576"/>
            </a:avLst>
          </a:prstGeom>
          <a:solidFill>
            <a:srgbClr val="EEF3F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057400"/>
            <a:ext cx="228600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(yesterday)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26080" y="2057400"/>
            <a:ext cx="1737360" cy="603504"/>
          </a:xfrm>
          <a:prstGeom prst="roundRect">
            <a:avLst>
              <a:gd name="adj" fmla="val 7576"/>
            </a:avLst>
          </a:prstGeom>
          <a:solidFill>
            <a:srgbClr val="EEF3F7"/>
          </a:solidFill>
          <a:ln/>
        </p:spPr>
      </p:sp>
      <p:sp>
        <p:nvSpPr>
          <p:cNvPr id="15" name="Text 13"/>
          <p:cNvSpPr/>
          <p:nvPr/>
        </p:nvSpPr>
        <p:spPr>
          <a:xfrm>
            <a:off x="2971800" y="2057400"/>
            <a:ext cx="164592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~0.55–0.65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2057400"/>
            <a:ext cx="1234440" cy="603504"/>
          </a:xfrm>
          <a:prstGeom prst="roundRect">
            <a:avLst>
              <a:gd name="adj" fmla="val 7576"/>
            </a:avLst>
          </a:prstGeom>
          <a:solidFill>
            <a:srgbClr val="EEF3F7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057400"/>
            <a:ext cx="114300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~0.75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89320" y="2057400"/>
            <a:ext cx="2743200" cy="603504"/>
          </a:xfrm>
          <a:prstGeom prst="roundRect">
            <a:avLst>
              <a:gd name="adj" fmla="val 7576"/>
            </a:avLst>
          </a:prstGeom>
          <a:solidFill>
            <a:srgbClr val="EEF3F7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2057400"/>
            <a:ext cx="265176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on exact terms, dies on synonyms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2743200"/>
            <a:ext cx="2377440" cy="603504"/>
          </a:xfrm>
          <a:prstGeom prst="roundRect">
            <a:avLst>
              <a:gd name="adj" fmla="val 7576"/>
            </a:avLst>
          </a:prstGeom>
          <a:solidFill>
            <a:srgbClr val="E5F4F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743200"/>
            <a:ext cx="228600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(today)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926080" y="2743200"/>
            <a:ext cx="1737360" cy="603504"/>
          </a:xfrm>
          <a:prstGeom prst="roundRect">
            <a:avLst>
              <a:gd name="adj" fmla="val 7576"/>
            </a:avLst>
          </a:prstGeom>
          <a:solidFill>
            <a:srgbClr val="E5F4F3"/>
          </a:solidFill>
          <a:ln/>
        </p:spPr>
      </p:sp>
      <p:sp>
        <p:nvSpPr>
          <p:cNvPr id="23" name="Text 21"/>
          <p:cNvSpPr/>
          <p:nvPr/>
        </p:nvSpPr>
        <p:spPr>
          <a:xfrm>
            <a:off x="2971800" y="2743200"/>
            <a:ext cx="164592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~0.70–0.85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743200"/>
            <a:ext cx="1234440" cy="603504"/>
          </a:xfrm>
          <a:prstGeom prst="roundRect">
            <a:avLst>
              <a:gd name="adj" fmla="val 7576"/>
            </a:avLst>
          </a:prstGeom>
          <a:solidFill>
            <a:srgbClr val="E5F4F3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743200"/>
            <a:ext cx="114300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~0.85+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743200"/>
            <a:ext cx="2743200" cy="603504"/>
          </a:xfrm>
          <a:prstGeom prst="roundRect">
            <a:avLst>
              <a:gd name="adj" fmla="val 7576"/>
            </a:avLst>
          </a:prstGeom>
          <a:solidFill>
            <a:srgbClr val="E5F4F3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2743200"/>
            <a:ext cx="265176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 &amp; Hinglish queries recover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3429000"/>
            <a:ext cx="2377440" cy="603504"/>
          </a:xfrm>
          <a:prstGeom prst="roundRect">
            <a:avLst>
              <a:gd name="adj" fmla="val 7576"/>
            </a:avLst>
          </a:prstGeom>
          <a:solidFill>
            <a:srgbClr val="EEF3F7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429000"/>
            <a:ext cx="228600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CA chunking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926080" y="3429000"/>
            <a:ext cx="1737360" cy="603504"/>
          </a:xfrm>
          <a:prstGeom prst="roundRect">
            <a:avLst>
              <a:gd name="adj" fmla="val 7576"/>
            </a:avLst>
          </a:prstGeom>
          <a:solidFill>
            <a:srgbClr val="EEF3F7"/>
          </a:solidFill>
          <a:ln/>
        </p:spPr>
      </p:sp>
      <p:sp>
        <p:nvSpPr>
          <p:cNvPr id="31" name="Text 29"/>
          <p:cNvSpPr/>
          <p:nvPr/>
        </p:nvSpPr>
        <p:spPr>
          <a:xfrm>
            <a:off x="2971800" y="3429000"/>
            <a:ext cx="164592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 still on policy questions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3429000"/>
            <a:ext cx="1234440" cy="603504"/>
          </a:xfrm>
          <a:prstGeom prst="roundRect">
            <a:avLst>
              <a:gd name="adj" fmla="val 7576"/>
            </a:avLst>
          </a:prstGeom>
          <a:solidFill>
            <a:srgbClr val="EEF3F7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3429000"/>
            <a:ext cx="114300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89320" y="3429000"/>
            <a:ext cx="2743200" cy="603504"/>
          </a:xfrm>
          <a:prstGeom prst="roundRect">
            <a:avLst>
              <a:gd name="adj" fmla="val 7576"/>
            </a:avLst>
          </a:prstGeom>
          <a:solidFill>
            <a:srgbClr val="EEF3F7"/>
          </a:solidFill>
          <a:ln/>
        </p:spPr>
      </p:sp>
      <p:sp>
        <p:nvSpPr>
          <p:cNvPr id="35" name="Text 33"/>
          <p:cNvSpPr/>
          <p:nvPr/>
        </p:nvSpPr>
        <p:spPr>
          <a:xfrm>
            <a:off x="6035040" y="3429000"/>
            <a:ext cx="265176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retrieval units, better hits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2920" y="4206240"/>
            <a:ext cx="8138160" cy="685800"/>
          </a:xfrm>
          <a:prstGeom prst="roundRect">
            <a:avLst>
              <a:gd name="adj" fmla="val 9333"/>
            </a:avLst>
          </a:prstGeom>
          <a:solidFill>
            <a:srgbClr val="E5F4F3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42062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professional habit you're building: </a:t>
            </a:r>
            <a:pPr indent="0" marL="0">
              <a:buNone/>
            </a:pPr>
            <a:r>
              <a:rPr lang="en-US" sz="12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component → re-run the SAME eval → compare numbers. This exact loop is Day 4's whole subject (and how real teams ship RAG).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" y="39502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(Ranges are typical — YOUR numbers come from YOUR run in the practical.)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embeddings LOSE to BM25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868680"/>
          </a:xfrm>
          <a:prstGeom prst="roundRect">
            <a:avLst>
              <a:gd name="adj" fmla="val 7368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72768"/>
            <a:ext cx="457200" cy="457200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9164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716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identifiers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383280" y="13716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“X-500”, “P-116”, order numbers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69280" y="13716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tokens have weak, generic embeddings — BM25 nails them exactly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2359152"/>
            <a:ext cx="8138160" cy="868680"/>
          </a:xfrm>
          <a:prstGeom prst="roundRect">
            <a:avLst>
              <a:gd name="adj" fmla="val 7368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" y="2560320"/>
            <a:ext cx="457200" cy="457200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67919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359152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Precise numbers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383280" y="235915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“1.5L”, “750W”, “Rs. 899”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669280" y="235915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blur numeric precision; keywords match it literally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2920" y="3346704"/>
            <a:ext cx="8138160" cy="868680"/>
          </a:xfrm>
          <a:prstGeom prst="roundRect">
            <a:avLst>
              <a:gd name="adj" fmla="val 7368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" y="3547872"/>
            <a:ext cx="457200" cy="457200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66674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346704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Rare/new words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3383280" y="3346704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names the model never saw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669280" y="3346704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signal → meaningless position in space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02920" y="4434840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E5F4F3"/>
          </a:solidFill>
          <a:ln/>
        </p:spPr>
      </p:sp>
      <p:sp>
        <p:nvSpPr>
          <p:cNvPr id="23" name="Text 18"/>
          <p:cNvSpPr/>
          <p:nvPr/>
        </p:nvSpPr>
        <p:spPr>
          <a:xfrm>
            <a:off x="731520" y="4434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 keywords for precision, vectors for meaning → </a:t>
            </a:r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search, tomorrow, in ChromaDB.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semantic retriever fits on a slide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937760" cy="3154680"/>
          </a:xfrm>
          <a:prstGeom prst="roundRect">
            <a:avLst>
              <a:gd name="adj" fmla="val 2029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72768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index time (once)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vecs = embed_batch(CHUNKS)          # n x 1536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vecs = vecs / np.linalg.norm(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vecs, axis=1, keepdims=True)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query time (per question)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embed_batch([question])[0]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q / np.linalg.norm(q)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vecs @ q                    # cosine!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top_k = np.argsort(scores)[::-1][:3]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23560" y="1371600"/>
            <a:ext cx="3017520" cy="96012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06440" y="14630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Normalise once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06440" y="1792224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unit-length vectors make dot product = cosine — one matrix multiply scores everything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23560" y="2468880"/>
            <a:ext cx="3017520" cy="96012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06440" y="25603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@ does the magic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06440" y="2889504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comparisons in microseconds; a vector DB does the same for millions (HNSW)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23560" y="3566160"/>
            <a:ext cx="3017520" cy="96012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06440" y="36576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interface as BM25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06440" y="3986784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retrieve(query, k) — so the RAG loop and the eval DON'T change. Swap &amp; re-measure.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RAGBot v0.1 → v0.2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86200" cy="1371600"/>
          </a:xfrm>
          <a:prstGeom prst="roundRect">
            <a:avLst>
              <a:gd name="adj" fmla="val 466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361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RAGBot v0.1 (yesterday)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retrieval · pre-chunked catalog · fails synonym &amp; Hinglish queries · F1 measured and found wanting.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926080"/>
            <a:ext cx="3886200" cy="1554480"/>
          </a:xfrm>
          <a:prstGeom prst="roundRect">
            <a:avLst>
              <a:gd name="adj" fmla="val 4118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0906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RAGBot v0.2 (today)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 over the catalog PLUS a real messy policy document, chunked context-aware — with before/after metrics in the scorecard.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63440" y="13716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practical goals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810512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1911096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193792" y="18105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catalog + policy chunks (one batched call)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63440" y="2340864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93792" y="23408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top-k retriever, same interface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663440" y="2871216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2971800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93792" y="28712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the policy doc 3 ways; measure each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663440" y="3401568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50215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93792" y="34015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yesterday's F1 on the extended gold set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663440" y="3931920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4032504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193792" y="3931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BM25 around — hybrid needs it tomorrow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Practical: the meaning machine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63677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" y="1767535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3619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Touch the vectors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886200" y="153619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real sentences, print the numbers, compute cosine similarity by hand.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246888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64261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91" y="2773375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4203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Swap the retriever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886200" y="254203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over the catalog — watch yesterday's failed queries succeed, then LOSE on X-500.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347472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364845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" y="3779215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54787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 lab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886200" y="354787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messy policy doc, three chunking strategies, one gold set — the numbers pick the winner.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leave with RAGBot v0.2 — and a table proving it beats v0.1.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ideas to keep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73352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73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55448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 is geometry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1965960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map text to vectors; similar meaning = nearby points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90872" y="1371600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73752" y="1673352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673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05272" y="155448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Cosine is the ruler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605272" y="1965960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once, dot product everything — that's semantic search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118104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18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2999232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 is design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341071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· one topic · injected headers · overlap — then MEASURE it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90872" y="2816352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73752" y="3118104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3118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05272" y="2999232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silver bullets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605272" y="341071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lose on exact IDs — keywords + vectors = tomorrow's hybrid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2519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Module 3: </a:t>
            </a:r>
            <a:pPr indent="0" marL="0">
              <a:buNone/>
            </a:pPr>
            <a:r>
              <a:rPr lang="en-US" sz="13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does all of today's bookkeeping for you, HNSW makes it fast at millions of chunks, and hybrid search finally marries BM25 with vectors.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Module 2 — Embeddings &amp; Context-Aware Chunking</dc:title>
  <dc:subject>PptxGenJS Presentation</dc:subject>
  <dc:creator>PMS RoBoTics Research Center</dc:creator>
  <cp:lastModifiedBy>PMS RoBoTics Research Center</cp:lastModifiedBy>
  <cp:revision>1</cp:revision>
  <dcterms:created xsi:type="dcterms:W3CDTF">2026-07-14T04:48:07Z</dcterms:created>
  <dcterms:modified xsi:type="dcterms:W3CDTF">2026-07-14T04:48:07Z</dcterms:modified>
</cp:coreProperties>
</file>
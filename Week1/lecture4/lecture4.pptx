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4. Students can prompt and call APIs; today they learn the request settings they've been leaving at defaults: temperature, max_tokens, context windows. Tomorrow is assembly day (weekly project), so today completes the toolkit.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Days 1-3. Today = the request settings left at defaults all week. Tomorrow everything assembles into the graded weekly project, so today is the last new-concepts day of Week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Tokens now connect to everything: billing (Day 3), the context window (new today), and max_tokens (new today). tiktoken lets students count offline for free — no API call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mental model for today: generation = repeated weighted sampling from a probability distribution. Temperature/top_p reshape the distribution before sampling. This slide explains why identical prompts produce different outputs — Day 1's mystery 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Temperature reshapes the distribution: 0 = near-deterministic (argmax), ~0.7-0.9 balanced, 1.5+ chaotic. Use-case mapping matters more than the math: classifiers cold, chat warm, brainstorm hot. Practical does a live sweep at 0/0.8/1.5, three runs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top_p cuts the tail of the distribution (nucleus sampling); tune temperature OR top_p, not both. Penalties fight repetition. Message: know they exist, keep defaults unless you observe a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max_tokens = output ceiling; truncation is mid-sentence, not a summary. Always check finish_reason — 'length' means truncated, deadly for JSON outputs. Best practice: prompt for brevity AND cap as safety 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window = total token budget shared by system prompt + history + question + answer. Hard limit; sizes vary (~128K common, 1M+ exists, bigger = pricier). Connects to Day 3's growing history and Week 2's RAG (fitting knowledge into the window).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strategies: sliding window (built today, was Day 3 homework), summarisation, retrieval-on-demand (= RAG teaser for Week 2). Golden rule: never trim the system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practical cheat sheet: recipes by task. Key insight — one product uses DIFFERENT settings per feature. SmartBot v4 will run its classifier at temp 0 and its chat at 0.7. Values are starting points; tests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annotated call showing every knob. Practical hierarchy: temperature + max_tokens do 95% of the work; defaults for the rest; always check finish_reason.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SmartBot v4 = v3 + tuning: two-step route (classify cold, answer warm), max_tokens everywhere, finish_reason checks, sliding-window memory. Friday assembles v4 + Day 2 techniques into the graded weekly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practical. Same OpenAI key logistics as Day 3. tiktoken is offline/free — no API cost for Experiment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toolkit complete: concepts (D1), prompts (D2), APIs (D3), tuning (D4). Tomorrow: assembly into the graded weekly project. Homework: temperature report + finish the v4 acceptance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Tuning Knobs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· temperature · context windows · model parameters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01 · MODULE 04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GENERATIVE AI FOUNDATIONS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THEORY + PRACTICAL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stop before assembly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2560320"/>
          </a:xfrm>
          <a:prstGeom prst="roundRect">
            <a:avLst>
              <a:gd name="adj" fmla="val 25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toolkit so far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933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next-token prediction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5603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4871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prompts (5-part anatomy)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2724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0540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API: memory, retries, cost meter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663440" y="1371600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13" name="Text 8"/>
          <p:cNvSpPr/>
          <p:nvPr/>
        </p:nvSpPr>
        <p:spPr>
          <a:xfrm>
            <a:off x="4846320" y="137160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577840" y="137160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LLMs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63440" y="1938528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16" name="Text 11"/>
          <p:cNvSpPr/>
          <p:nvPr/>
        </p:nvSpPr>
        <p:spPr>
          <a:xfrm>
            <a:off x="4846320" y="19385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577840" y="193852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505456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19" name="Text 14"/>
          <p:cNvSpPr/>
          <p:nvPr/>
        </p:nvSpPr>
        <p:spPr>
          <a:xfrm>
            <a:off x="4846320" y="250545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577840" y="250545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 (OpenAI)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3072384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</p:spPr>
      </p:sp>
      <p:sp>
        <p:nvSpPr>
          <p:cNvPr id="22" name="Text 17"/>
          <p:cNvSpPr/>
          <p:nvPr/>
        </p:nvSpPr>
        <p:spPr>
          <a:xfrm>
            <a:off x="4846320" y="307238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577840" y="307238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parameters — today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63440" y="3639312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25" name="Text 20"/>
          <p:cNvSpPr/>
          <p:nvPr/>
        </p:nvSpPr>
        <p:spPr>
          <a:xfrm>
            <a:off x="4846320" y="363931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577840" y="3639312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project: retail Q&amp;A chatbot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so far ran on default settings. Today you take manual control.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FOUNDATION, PRECISELY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revisited — now you can count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“SmartBot replied instantly!”  through the tokenizer: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836676" cy="457200"/>
          </a:xfrm>
          <a:prstGeom prst="roundRect">
            <a:avLst>
              <a:gd name="adj" fmla="val 12000"/>
            </a:avLst>
          </a:prstGeom>
          <a:solidFill>
            <a:srgbClr val="DCEFE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8366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723644" y="1737360"/>
            <a:ext cx="626364" cy="457200"/>
          </a:xfrm>
          <a:prstGeom prst="roundRect">
            <a:avLst>
              <a:gd name="adj" fmla="val 12000"/>
            </a:avLst>
          </a:prstGeom>
          <a:solidFill>
            <a:srgbClr val="F9E9CB"/>
          </a:solidFill>
          <a:ln/>
        </p:spPr>
      </p:sp>
      <p:sp>
        <p:nvSpPr>
          <p:cNvPr id="8" name="Text 6"/>
          <p:cNvSpPr/>
          <p:nvPr/>
        </p:nvSpPr>
        <p:spPr>
          <a:xfrm>
            <a:off x="1723644" y="1737360"/>
            <a:ext cx="6263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59736" y="1737360"/>
            <a:ext cx="1152144" cy="45720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/>
        </p:spPr>
      </p:sp>
      <p:sp>
        <p:nvSpPr>
          <p:cNvPr id="10" name="Text 8"/>
          <p:cNvSpPr/>
          <p:nvPr/>
        </p:nvSpPr>
        <p:spPr>
          <a:xfrm>
            <a:off x="2459736" y="173736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replied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21608" y="1737360"/>
            <a:ext cx="1362456" cy="457200"/>
          </a:xfrm>
          <a:prstGeom prst="roundRect">
            <a:avLst>
              <a:gd name="adj" fmla="val 12000"/>
            </a:avLst>
          </a:prstGeom>
          <a:solidFill>
            <a:srgbClr val="F0DEE7"/>
          </a:solidFill>
          <a:ln/>
        </p:spPr>
      </p:sp>
      <p:sp>
        <p:nvSpPr>
          <p:cNvPr id="12" name="Text 10"/>
          <p:cNvSpPr/>
          <p:nvPr/>
        </p:nvSpPr>
        <p:spPr>
          <a:xfrm>
            <a:off x="3721608" y="1737360"/>
            <a:ext cx="1362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instantly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93792" y="1737360"/>
            <a:ext cx="416052" cy="457200"/>
          </a:xfrm>
          <a:prstGeom prst="roundRect">
            <a:avLst>
              <a:gd name="adj" fmla="val 13187"/>
            </a:avLst>
          </a:prstGeom>
          <a:solidFill>
            <a:srgbClr val="DCEFEA"/>
          </a:solidFill>
          <a:ln/>
        </p:spPr>
      </p:sp>
      <p:sp>
        <p:nvSpPr>
          <p:cNvPr id="14" name="Text 12"/>
          <p:cNvSpPr/>
          <p:nvPr/>
        </p:nvSpPr>
        <p:spPr>
          <a:xfrm>
            <a:off x="5193792" y="1737360"/>
            <a:ext cx="4160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tokens — and today you'll count them yourself with tiktoken, OpenAI's tokenizer library.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09067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80160" y="2971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5800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in AND 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 the bill (Day 3 receipt)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64408" y="278892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447288" y="297180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090672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41648" y="2971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3447288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hard limit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it can see at once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025896" y="278892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208776" y="297180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090672"/>
            <a:ext cx="219456" cy="21945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803136" y="2971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max_tokens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208776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cap on how much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allowed to write back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you saw tokens. Day 3 you paid for them. Today you control them.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token is a dice roll over probabilities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kettle is very …”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2194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3240" y="20116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487168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3A417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87168"/>
            <a:ext cx="1463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2487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962656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3A417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62656"/>
            <a:ext cx="1463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affordable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29626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438144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3A417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38144"/>
            <a:ext cx="1463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34381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913632"/>
            <a:ext cx="594360" cy="347472"/>
          </a:xfrm>
          <a:prstGeom prst="roundRect">
            <a:avLst>
              <a:gd name="adj" fmla="val 13158"/>
            </a:avLst>
          </a:prstGeom>
          <a:solidFill>
            <a:srgbClr val="3A417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13632"/>
            <a:ext cx="1463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39136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1371600"/>
            <a:ext cx="3657600" cy="3017520"/>
          </a:xfrm>
          <a:prstGeom prst="roundRect">
            <a:avLst>
              <a:gd name="adj" fmla="val 212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0" y="157276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2839" y="1703527"/>
            <a:ext cx="241402" cy="24140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85216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doesn't pick one word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212080" y="2240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computes a probability for EVERY token in its vocabulary, then samples one — a weighted dice roll.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212080" y="3063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parameters — temperature, top_p — reshape this dice before the roll. That's all they do. And that's everything.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→ different outputs. Now you know exactly why.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 №1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— flatten or sharpen the dice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932688"/>
          </a:xfrm>
          <a:prstGeom prst="roundRect">
            <a:avLst>
              <a:gd name="adj" fmla="val 6863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4533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67609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99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17320" y="1828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Near-deterministic: always the most likely token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40480" y="139903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reliable 1.5L kettle boils fast…” (same every run)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66560" y="1399032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extraction · math · policy answers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2377440"/>
            <a:ext cx="8138160" cy="932688"/>
          </a:xfrm>
          <a:prstGeom prst="roundRect">
            <a:avLst>
              <a:gd name="adj" fmla="val 686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259689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" y="2727655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450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≈ 0.7–0.9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417320" y="2880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Balanced: mostly likely tokens with variety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840480" y="245059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“Morning chai in 3 minutes flat — meet Prima…”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766560" y="2450592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marketing copy · everyday assistants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2920" y="3429000"/>
            <a:ext cx="8138160" cy="932688"/>
          </a:xfrm>
          <a:prstGeom prst="roundRect">
            <a:avLst>
              <a:gd name="adj" fmla="val 6863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364845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3779215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5021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≈ 1.5+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417320" y="3931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Wild: unlikely tokens get real chances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3840480" y="350215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kettle DREAMS of Himalayan snowmelt…”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766560" y="3502152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· fiction — expect nonsense too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sharpen the dice toward the favourite. High = flatten it so underdogs win. You'll sweep this live today.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 №2 &amp; №3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top_p and the repetition penalties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8803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035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top_p (nucleus sampling)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reshaping the dice, cut it: keep only the smallest set of tokens whose probabilities add up to p, ignore the rest.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top_p = 1.0   → consider everything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top_p = 0.9   → drop the weird 10% tail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top_p = 0.1   → only the safest picks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tune temperature OR top_p — not both at once.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90872" y="1371600"/>
            <a:ext cx="3950208" cy="28803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9472" y="157276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231" y="1703527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9552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&amp; presence penalty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919472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discourage repetition by lowering the probability of tokens that already appeared: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919472" y="28346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frequency_penalty — the more often a token appeared, the more it's pushed down (fights word echo)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presence_penalty — flat push once a token has appeared at all (nudges toward new topics)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are fine 95% of the time — reach for these only when you SEE repetition or looping.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 №4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max_tokens — the output budget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834640"/>
          </a:xfrm>
          <a:prstGeom prst="roundRect">
            <a:avLst>
              <a:gd name="adj" fmla="val 225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035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ceiling on output length. Generation STOPS mid-sentence when the budget runs out — it does not summarise to fit!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set it: caps your cost per call, caps latency, and protects you from runaway outputs. Every production app sets it.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know if you got cut off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1783080"/>
            <a:ext cx="3977640" cy="1143000"/>
          </a:xfrm>
          <a:prstGeom prst="roundRect">
            <a:avLst>
              <a:gd name="adj" fmla="val 4800"/>
            </a:avLst>
          </a:prstGeom>
          <a:solidFill>
            <a:srgbClr val="E5F4F3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901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finish_reason == "stop"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4632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finished naturally. All good.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3063240"/>
            <a:ext cx="3977640" cy="1143000"/>
          </a:xfrm>
          <a:prstGeom prst="roundRect">
            <a:avLst>
              <a:gd name="adj" fmla="val 4800"/>
            </a:avLst>
          </a:prstGeom>
          <a:solidFill>
            <a:srgbClr val="F7E6E3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3182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finish_reason == "length"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46320" y="3520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by max_tokens. Check this in code — a cut-off JSON is a broken JSON!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move: prompt for brevity (Format!) AND set max_tokens as the safety net — belt and braces.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LIMIT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822960"/>
          </a:xfrm>
          <a:prstGeom prst="roundRect">
            <a:avLst>
              <a:gd name="adj" fmla="val 777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F4B86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40280" y="1600200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3A4170"/>
          </a:solidFill>
          <a:ln/>
        </p:spPr>
      </p:sp>
      <p:sp>
        <p:nvSpPr>
          <p:cNvPr id="8" name="Text 6"/>
          <p:cNvSpPr/>
          <p:nvPr/>
        </p:nvSpPr>
        <p:spPr>
          <a:xfrm>
            <a:off x="224028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97880" y="1600200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897880" y="1600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question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78040" y="1600200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2A3060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for the answer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context window — EVERYTHING must fit: input AND output share 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hard limit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= an API error or silently dropped text. The model cannot 'squeeze'.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64408" y="278892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47288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Sizes vary by model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447288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~128K tokens is common; some models offer 1M+. Bigger window = pricier calls.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25896" y="278892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08776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history eats it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08776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3's growing messages list walks straight into this wall — by design.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Day 3's question — 'what happens after 200 turns?' This is what happens.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the window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276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7035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630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window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383280" y="1463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system prompt + the last N exchanges; drop the oldest.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3796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predictable — you build this today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414016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615184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" y="2745943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50545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Summarise the past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383280" y="2505456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compress old turns into a short summary message.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537960" y="250545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gist, loses detail — costs an extra call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456432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65760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378835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54787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on demand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3383280" y="35478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knowledge OUTSIDE the chat; fetch only relevant pieces per question.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537960" y="35478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smartest approach — it has a name: RAG. Week 2!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4526280"/>
            <a:ext cx="8138160" cy="457200"/>
          </a:xfrm>
          <a:prstGeom prst="roundRect">
            <a:avLst>
              <a:gd name="adj" fmla="val 14000"/>
            </a:avLst>
          </a:prstGeom>
          <a:solidFill>
            <a:srgbClr val="E5F4F3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trim — NEVER trim the system prompt. That's the bot's brain.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recipes by task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14600" cy="512064"/>
          </a:xfrm>
          <a:prstGeom prst="roundRect">
            <a:avLst>
              <a:gd name="adj" fmla="val 8929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242316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63240" y="1325880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325880"/>
            <a:ext cx="1325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26280" y="1325880"/>
            <a:ext cx="1234440" cy="512064"/>
          </a:xfrm>
          <a:prstGeom prst="roundRect">
            <a:avLst>
              <a:gd name="adj" fmla="val 8929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325880"/>
            <a:ext cx="11430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06440" y="1325880"/>
            <a:ext cx="2880360" cy="512064"/>
          </a:xfrm>
          <a:prstGeom prst="roundRect">
            <a:avLst>
              <a:gd name="adj" fmla="val 8929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325880"/>
            <a:ext cx="278892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901952"/>
            <a:ext cx="2514600" cy="512064"/>
          </a:xfrm>
          <a:prstGeom prst="roundRect">
            <a:avLst>
              <a:gd name="adj" fmla="val 8929"/>
            </a:avLst>
          </a:prstGeom>
          <a:solidFill>
            <a:srgbClr val="E5F4F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01952"/>
            <a:ext cx="242316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1901952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1901952"/>
            <a:ext cx="1325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26280" y="1901952"/>
            <a:ext cx="123444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901952"/>
            <a:ext cx="11430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06440" y="1901952"/>
            <a:ext cx="288036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1901952"/>
            <a:ext cx="278892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label, identical every 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478024"/>
            <a:ext cx="2514600" cy="512064"/>
          </a:xfrm>
          <a:prstGeom prst="roundRect">
            <a:avLst>
              <a:gd name="adj" fmla="val 8929"/>
            </a:avLst>
          </a:prstGeom>
          <a:solidFill>
            <a:srgbClr val="E5F4F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478024"/>
            <a:ext cx="242316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answers (returns, hours)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63240" y="2478024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0" y="2478024"/>
            <a:ext cx="1325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– 0.3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2478024"/>
            <a:ext cx="123444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2478024"/>
            <a:ext cx="11430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06440" y="2478024"/>
            <a:ext cx="288036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2478024"/>
            <a:ext cx="278892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over personality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054096"/>
            <a:ext cx="2514600" cy="512064"/>
          </a:xfrm>
          <a:prstGeom prst="roundRect">
            <a:avLst>
              <a:gd name="adj" fmla="val 8929"/>
            </a:avLst>
          </a:prstGeom>
          <a:solidFill>
            <a:srgbClr val="E5F4F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054096"/>
            <a:ext cx="242316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chat (SmartBot)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63240" y="3054096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31" name="Text 29"/>
          <p:cNvSpPr/>
          <p:nvPr/>
        </p:nvSpPr>
        <p:spPr>
          <a:xfrm>
            <a:off x="3108960" y="3054096"/>
            <a:ext cx="1325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 – 0.8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26280" y="3054096"/>
            <a:ext cx="123444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3054096"/>
            <a:ext cx="11430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06440" y="3054096"/>
            <a:ext cx="288036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3054096"/>
            <a:ext cx="278892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but on-message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3630168"/>
            <a:ext cx="2514600" cy="512064"/>
          </a:xfrm>
          <a:prstGeom prst="roundRect">
            <a:avLst>
              <a:gd name="adj" fmla="val 8929"/>
            </a:avLst>
          </a:prstGeom>
          <a:solidFill>
            <a:srgbClr val="E5F4F3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630168"/>
            <a:ext cx="242316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copy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063240" y="3630168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39" name="Text 37"/>
          <p:cNvSpPr/>
          <p:nvPr/>
        </p:nvSpPr>
        <p:spPr>
          <a:xfrm>
            <a:off x="3108960" y="3630168"/>
            <a:ext cx="1325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 – 1.1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26280" y="3630168"/>
            <a:ext cx="123444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3630168"/>
            <a:ext cx="11430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06440" y="3630168"/>
            <a:ext cx="288036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43" name="Text 41"/>
          <p:cNvSpPr/>
          <p:nvPr/>
        </p:nvSpPr>
        <p:spPr>
          <a:xfrm>
            <a:off x="5852160" y="3630168"/>
            <a:ext cx="278892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 across regenerations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4206240"/>
            <a:ext cx="2514600" cy="512064"/>
          </a:xfrm>
          <a:prstGeom prst="roundRect">
            <a:avLst>
              <a:gd name="adj" fmla="val 8929"/>
            </a:avLst>
          </a:prstGeom>
          <a:solidFill>
            <a:srgbClr val="E5F4F3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206240"/>
            <a:ext cx="242316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20 ideas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063240" y="4206240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47" name="Text 45"/>
          <p:cNvSpPr/>
          <p:nvPr/>
        </p:nvSpPr>
        <p:spPr>
          <a:xfrm>
            <a:off x="3108960" y="4206240"/>
            <a:ext cx="1325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– 1.5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26280" y="4206240"/>
            <a:ext cx="123444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0" y="4206240"/>
            <a:ext cx="11430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806440" y="4206240"/>
            <a:ext cx="2880360" cy="512064"/>
          </a:xfrm>
          <a:prstGeom prst="roundRect">
            <a:avLst>
              <a:gd name="adj" fmla="val 8929"/>
            </a:avLst>
          </a:prstGeom>
          <a:solidFill>
            <a:srgbClr val="EEF3F7"/>
          </a:solidFill>
          <a:ln/>
        </p:spPr>
      </p:sp>
      <p:sp>
        <p:nvSpPr>
          <p:cNvPr id="51" name="Text 49"/>
          <p:cNvSpPr/>
          <p:nvPr/>
        </p:nvSpPr>
        <p:spPr>
          <a:xfrm>
            <a:off x="5852160" y="4206240"/>
            <a:ext cx="278892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the weird tail included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2920" y="4828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laws — starting points. Your acceptance tests (Day 2!) decide the final values.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the knobs in one OpenAI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937760" cy="3154680"/>
          </a:xfrm>
          <a:prstGeom prst="roundRect">
            <a:avLst>
              <a:gd name="adj" fmla="val 202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44805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client.chat.completions.create(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model="gpt-4o-mini",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messages=history,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temperature=0.7,        # the dice shape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max_tokens=200,         # output budget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top_p=1.0,              # keep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frequency_penalty=0.0,  # keep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presence_penalty=0.0,   # keep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response.choices[0].message.content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response.choices[0].finish_reason == "length":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print("warning: reply was truncated!")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23560" y="137160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06440" y="1463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knobs you'll actually 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06440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max_tokens cover 95% of real tuning.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23560" y="246888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2560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you'll mostly leave alone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top_p and the penalties: touch only when you observe a problem.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356616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3657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check you'll always make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4023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finish_reason — the difference between a reply and half a reply.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SmartBot v4: tuned per feature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36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SmartBot v3 (yesterday)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plumbing — but every call runs on default settings, and its memory grows forever.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3886200" cy="1554480"/>
          </a:xfrm>
          <a:prstGeom prst="roundRect">
            <a:avLst>
              <a:gd name="adj" fmla="val 411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90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SmartBot v4 (today)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at temp 0 · chat at temp 0.7 · max_tokens on every call · finish_reason checked · sliding-window memory with the system prompt protected.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v4 must do (your practical goal)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81051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911096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93792" y="1810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classify intent first (cold), then answer (warm)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2340864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3792" y="2340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carries temperature + max_tokens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63440" y="2871216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97180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93792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auto-trims past 20 messages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3401568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5021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93792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replies detected and retried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663440" y="393192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03250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93792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this becomes the graded weekly project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the tuning lab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setup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86200" y="153619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workflow as yesterday — plus tiktoken, which counts tokens offline for free.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experiments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86200" y="254203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tokens · temperature sweep · truncation &amp; finish_reason · penalties · sliding-window memory.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SmartBot v4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886200" y="354787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Two-speed bot: ice-cold classifier + warm chat, trimmed memory, all knobs set on purpose.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never again ship a call with settings you didn't choose.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1's toolkit is complete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is sampling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is a weighted dice roll — parameters reshape the dice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05272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by task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05272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for facts &amp; labels, ~0.7 for chat, 1.2+ for wild ideas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everything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caps output; check finish_reason; count with tiktoken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window is finite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05272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history, never the system prompt — RAG completes this in Week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5, assembly day: </a:t>
            </a:r>
            <a:pPr indent="0" marL="0">
              <a:buNone/>
            </a:pPr>
            <a:r>
              <a:rPr lang="en-US" sz="13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this week becomes your graded weekly project — the complete retail Q&amp;A chatbot.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Module 4 — Tokens, Temperature &amp; Parameters</dc:title>
  <dc:subject>PptxGenJS Presentation</dc:subject>
  <dc:creator>PMS RoBoTics Research Center</dc:creator>
  <cp:lastModifiedBy>PMS RoBoTics Research Center</cp:lastModifiedBy>
  <cp:revision>1</cp:revision>
  <dcterms:created xsi:type="dcterms:W3CDTF">2026-07-09T03:30:54Z</dcterms:created>
  <dcterms:modified xsi:type="dcterms:W3CDTF">2026-07-09T03:30:54Z</dcterms:modified>
</cp:coreProperties>
</file>
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Introduce yourself and PMS RoBoTics Research Center. Today is the first of 20 modules: what LLMs actually are and how they power ChatGPT, Gemini and Claude. 30 min theory, 30 min hands-on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arc: Week 1 foundations, Week 2 RAG, Week 3 agents, Week 4 deployment and capstone. Each week levels up the same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pipeline: every daily module feeds the weekly project; the four weekly projects converge into the final deliverable capstone — a supply chain / retail chatbot they can demo at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definition. Demystify: it predicts the next word (token), like phone autocomplete but at massive scale. Break down Large / Language / Model. Right panel: probability distribution over next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Three-stage pipeline: pre-training (next-token prediction over internet-scale text), supervised fine-tuning (instruction following), RLHF (human preference ranking). This is the difference between raw GPT and ChatGPT.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scale intuition: trillions of training words, 100B+ parameters. Emphasize 'emergence' — capabilities like coding appear from the single objective of next-token prediction. Numbers are order-of-magnitude, exact figures are proprietary.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are the atoms of LLMs. Show the tokenized sentence. Why it matters: API pricing, context window limits, latency. We'll go deeper on Day 4; today's notebook counts tokens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product from model: ChatGPT is an app wrapping GPT models; same for Gemini and Claude. As builders we skip the app and call the model via API. Today we use Gemini's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capability grid with retail examples: product descriptions, multilingual support replies, code for inventory scripts, extracting order details from emails. All emerge from next-token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honest expectations: hallucination (ask Gemini for your college's fee structure — it will make one up), knowledge cutoff, no memory/actions. Each limitation maps to a later week — this motivates the whole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week map: each day contributes a piece to Friday's retail Q&amp;A chatbot. Today plants the mental model; tomorrow gives it a personality via prompts; Day 3 the engine; Day 4 the tuning; Day 5 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hands-on. Walk students through creating the free Gemini API key at aistudio.google.com (no credit card). Then open the notebook and work through the 5 experiments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4 ideas quickly, then preview tomorrow: prompt engineering. Homework: finish the notebook experiments and note one hallucination they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momentum: today's work is literally part of their final deliverable. Q&amp;A, then hands-on practical if not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LLMs?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Language Models power ChatGPT, Gemini &amp; Claude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Shape 5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9" name="Shape 6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 · MODULE 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GENERATIVE AI FOUNDATIONS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4-week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2286000"/>
          </a:xfrm>
          <a:prstGeom prst="roundRect">
            <a:avLst>
              <a:gd name="adj" fmla="val 3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5179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15361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938528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GenAI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" y="27889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prompts,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parameters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78608" y="1371600"/>
            <a:ext cx="1920240" cy="228600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0" y="15179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5361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1938528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0" y="27889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ChromaDB,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search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54296" y="1371600"/>
            <a:ext cx="1920240" cy="228600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18888" y="15179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15361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18888" y="1938528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18888" y="27889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memory,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29984" y="1371600"/>
            <a:ext cx="1920240" cy="228600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894576" y="15179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5361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94576" y="1938528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94576" y="27889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guardrails,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chatbot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→ </a:t>
            </a:r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Day 1: the foundation everything else builds 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COURSE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modules become your final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23160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489" y="17658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331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module / day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4088" y="2743200"/>
            <a:ext cx="2020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hour: 30 min theory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Python practical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3317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417320"/>
            <a:ext cx="2423160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38728" y="161848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29" y="176588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38728" y="2331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project / week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538728" y="2743200"/>
            <a:ext cx="2020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daily modules combine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weekly mini-project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3317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72200" y="1417320"/>
            <a:ext cx="2423160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73368" y="1618488"/>
            <a:ext cx="566928" cy="566928"/>
          </a:xfrm>
          <a:prstGeom prst="ellipse">
            <a:avLst/>
          </a:prstGeom>
          <a:solidFill>
            <a:srgbClr val="0B5E6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769" y="1765889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73368" y="2331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capstone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373368" y="2743200"/>
            <a:ext cx="2020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projects merge into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retail AI chatbot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wasted: </a:t>
            </a:r>
            <a:pPr indent="0" marL="0">
              <a:buNone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you write today runs inside your capstone in Week 4.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Large Language Model?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754880" cy="1737360"/>
          </a:xfrm>
          <a:prstGeom prst="roundRect">
            <a:avLst>
              <a:gd name="adj" fmla="val 3684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network trained on massive amounts of text </a:t>
            </a:r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 the next word.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skill — done at enormous scale — produces translation, coding, reasoning and conversation.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675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trillions of words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67128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67128" y="3675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31336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1336" y="3675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function,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23560" y="1371600"/>
            <a:ext cx="301752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572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Supercharged autocomplete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capital of France is…”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269748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2697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200400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2004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3703320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7033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LLM is built — 3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41832"/>
          </a:xfrm>
          <a:prstGeom prst="roundRect">
            <a:avLst>
              <a:gd name="adj" fmla="val 679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63624"/>
            <a:ext cx="548640" cy="54864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70627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996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Pre-training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11880" y="14813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huge slice of the internet; learn grammar, facts &amp; patterns by predicting next tokens.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0" y="148132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on thousands of GPUs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478024"/>
            <a:ext cx="8138160" cy="941832"/>
          </a:xfrm>
          <a:prstGeom prst="roundRect">
            <a:avLst>
              <a:gd name="adj" fmla="val 679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670048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" y="28126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Fine-tuning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25877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follow instructions from curated question → answer examples.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040880" y="258775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predictor into assistant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584448"/>
            <a:ext cx="8138160" cy="941832"/>
          </a:xfrm>
          <a:prstGeom prst="roundRect">
            <a:avLst>
              <a:gd name="adj" fmla="val 6796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3776472"/>
            <a:ext cx="548640" cy="54864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391911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71246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Human feedback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611880" y="369417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rank answers; the model learns to be helpful, honest &amp; safe (RLHF).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40880" y="36941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“polish” behind ChatGPT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“LARGE”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is hard to imagine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2A30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trillion+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seen in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non-stop, a human would need ~20,000 years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160020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2A3060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100B+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4728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(learned weights)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adjustable “knobs” that store what the model knows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896" y="160020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2A3060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goal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08776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8776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code, poems, answers — emerges from 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Emergence: abilities nobody explicitly programmed appear once models get big enough.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don't see words — they see tokens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“Internship at PMS Robotics!”  becomes: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923544" cy="457200"/>
          </a:xfrm>
          <a:prstGeom prst="roundRect">
            <a:avLst>
              <a:gd name="adj" fmla="val 12000"/>
            </a:avLst>
          </a:prstGeom>
          <a:solidFill>
            <a:srgbClr val="DCEFE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92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10512" y="182880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9E9CB"/>
          </a:solidFill>
          <a:ln/>
        </p:spPr>
      </p:sp>
      <p:sp>
        <p:nvSpPr>
          <p:cNvPr id="8" name="Text 6"/>
          <p:cNvSpPr/>
          <p:nvPr/>
        </p:nvSpPr>
        <p:spPr>
          <a:xfrm>
            <a:off x="1810512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33472" y="1828800"/>
            <a:ext cx="608076" cy="45720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/>
        </p:spPr>
      </p:sp>
      <p:sp>
        <p:nvSpPr>
          <p:cNvPr id="10" name="Text 8"/>
          <p:cNvSpPr/>
          <p:nvPr/>
        </p:nvSpPr>
        <p:spPr>
          <a:xfrm>
            <a:off x="2633472" y="1828800"/>
            <a:ext cx="608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1276" y="182880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0DEE7"/>
          </a:solidFill>
          <a:ln/>
        </p:spPr>
      </p:sp>
      <p:sp>
        <p:nvSpPr>
          <p:cNvPr id="12" name="Text 10"/>
          <p:cNvSpPr/>
          <p:nvPr/>
        </p:nvSpPr>
        <p:spPr>
          <a:xfrm>
            <a:off x="3351276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74236" y="1828800"/>
            <a:ext cx="1239012" cy="457200"/>
          </a:xfrm>
          <a:prstGeom prst="roundRect">
            <a:avLst>
              <a:gd name="adj" fmla="val 12000"/>
            </a:avLst>
          </a:prstGeom>
          <a:solidFill>
            <a:srgbClr val="DCEFEA"/>
          </a:solidFill>
          <a:ln/>
        </p:spPr>
      </p:sp>
      <p:sp>
        <p:nvSpPr>
          <p:cNvPr id="14" name="Text 12"/>
          <p:cNvSpPr/>
          <p:nvPr/>
        </p:nvSpPr>
        <p:spPr>
          <a:xfrm>
            <a:off x="4174236" y="1828800"/>
            <a:ext cx="12390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Robotics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22976" y="1828800"/>
            <a:ext cx="397764" cy="457200"/>
          </a:xfrm>
          <a:prstGeom prst="roundRect">
            <a:avLst>
              <a:gd name="adj" fmla="val 13793"/>
            </a:avLst>
          </a:prstGeom>
          <a:solidFill>
            <a:srgbClr val="F9E9CB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1828800"/>
            <a:ext cx="3977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3957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tokens ≈ 4 words   ·   rule of thumb: 1 token ≈ ¾ of an English word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273552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charge per token,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and out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91840" y="297180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3273552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690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4747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only “see”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tokens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80760" y="297180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273552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580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26364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prompts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costlier calls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three: products vs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you use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37160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37160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17136" y="137160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4517136" y="137160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56832" y="137160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137160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87452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87452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17136" y="187452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517136" y="187452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56832" y="187452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187452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37744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237744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237744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series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17136" y="237744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237744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series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56832" y="2377440"/>
            <a:ext cx="2084832" cy="448056"/>
          </a:xfrm>
          <a:prstGeom prst="roundRect">
            <a:avLst>
              <a:gd name="adj" fmla="val 10204"/>
            </a:avLst>
          </a:prstGeom>
          <a:solidFill>
            <a:srgbClr val="EE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2377440"/>
            <a:ext cx="208483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series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880360"/>
            <a:ext cx="17830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2880360"/>
            <a:ext cx="208483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2880360"/>
            <a:ext cx="208483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mass-market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product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17136" y="2880360"/>
            <a:ext cx="208483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29" name="Text 27"/>
          <p:cNvSpPr/>
          <p:nvPr/>
        </p:nvSpPr>
        <p:spPr>
          <a:xfrm>
            <a:off x="4517136" y="2880360"/>
            <a:ext cx="208483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Google &amp; multimodal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56832" y="2880360"/>
            <a:ext cx="208483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2880360"/>
            <a:ext cx="208483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focus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7764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app is just a thin UI. The LLM behind it is what we'll call directly through an API — starting today.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many superpowers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629" y="1650309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517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6152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reports,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marketing copy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4408" y="1371600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36192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117" y="1650309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517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&amp; rewrite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977640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tone,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simplification, summaries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25896" y="1371600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536192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605" y="1650309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39128" y="1517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39128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explain, debug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review programs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2779776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" y="2944368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29" y="3058485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16152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&amp; classify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16152" y="32826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structured data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text; tag &amp; route it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64408" y="2779776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2944368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117" y="3058485"/>
            <a:ext cx="210678" cy="2106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977640" y="32826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tutoring, assistants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25896" y="2779776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2944368"/>
            <a:ext cx="438912" cy="438912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605" y="3058485"/>
            <a:ext cx="210678" cy="2106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39128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&amp; plan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739128" y="32826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problems into steps,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options, decide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the same trick: predicting the next token, guided by your prompt.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LLMs can't do (yet)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96112"/>
          </a:xfrm>
          <a:prstGeom prst="roundRect">
            <a:avLst>
              <a:gd name="adj" fmla="val 7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91056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099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37560" y="146304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invents facts, citations and prices — it predicts plausible text, not verified truth.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78040" y="1609344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E5F4F3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160934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RAG fixes this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" y="2414016"/>
            <a:ext cx="8138160" cy="896112"/>
          </a:xfrm>
          <a:prstGeom prst="roundRect">
            <a:avLst>
              <a:gd name="adj" fmla="val 7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5234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50545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cut-off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337560" y="250545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after its training date; can't see today's inventory or news by itself.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178040" y="2651760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E5F4F3"/>
          </a:solidFill>
          <a:ln/>
        </p:spPr>
      </p:sp>
      <p:sp>
        <p:nvSpPr>
          <p:cNvPr id="17" name="Text 13"/>
          <p:cNvSpPr/>
          <p:nvPr/>
        </p:nvSpPr>
        <p:spPr>
          <a:xfrm>
            <a:off x="7178040" y="265176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your own documents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02920" y="3456432"/>
            <a:ext cx="8138160" cy="896112"/>
          </a:xfrm>
          <a:prstGeom prst="roundRect">
            <a:avLst>
              <a:gd name="adj" fmla="val 714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675888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94760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54787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memory or actions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337560" y="354787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past chats; can't check a database or place an order on its own.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178040" y="3694176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E5F4F3"/>
          </a:solidFill>
          <a:ln/>
        </p:spPr>
      </p:sp>
      <p:sp>
        <p:nvSpPr>
          <p:cNvPr id="24" name="Text 19"/>
          <p:cNvSpPr/>
          <p:nvPr/>
        </p:nvSpPr>
        <p:spPr>
          <a:xfrm>
            <a:off x="7178040" y="36941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tools &amp; memory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02920" y="45537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exists because of these limits — each week adds the missing piece.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today fits: the retail Q&amp;A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0" cy="3108960"/>
          </a:xfrm>
          <a:prstGeom prst="roundRect">
            <a:avLst>
              <a:gd name="adj" fmla="val 2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Q&amp;A Chatbot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assistant bot that answers customer questions about products, orders and store policies — built with nothing but LLM API calls and good prompts.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end of Week 1 · graded as your weekly project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3716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13716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32120" y="1371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LLMs → first API mindset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20116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01168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532120" y="2011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→ bot personality &amp; rules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26517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6517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32120" y="2651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→ the bot's engine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329184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2918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532120" y="3291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parameters → tuning cost &amp; creativity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393192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3931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532120" y="3931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chatbot — weekly project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your first LLM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free API key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 → sign in → “Get API key”. Free tier, no credit card.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notebook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module1_first_llm_program.ipynb — run it in Google Colab or Jupyter.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5 experiments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API call · next-token intuition · token counting · hallucination test · mini chatbot.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today having talked to an LLM from Python — not from a chat window.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predict the next token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emergent behaviour at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in 3 stages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→ fine-tuning → human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≠ models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ChatGPT/Gemini/Claude are apps; we call the models via APIs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but flawed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cut-offs — RAG and agents will fix this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2: </a:t>
            </a:r>
            <a:pPr indent="0" marL="0">
              <a:buNone/>
            </a:pPr>
            <a:r>
              <a:rPr lang="en-US" sz="13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writing prompts that turn a raw LLM into your obedient retail assistant.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1521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started building your capstone.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from today runs inside the AI chatbot you'll demo in Week 4.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  ·  pmsroboticsrc@gmail.com  ·  (+91) 9960664674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Module 1 — What are LLMs</dc:title>
  <dc:subject>PptxGenJS Presentation</dc:subject>
  <dc:creator>PMS RoBoTics Research Center</dc:creator>
  <cp:lastModifiedBy>PMS RoBoTics Research Center</cp:lastModifiedBy>
  <cp:revision>1</cp:revision>
  <dcterms:created xsi:type="dcterms:W3CDTF">2026-07-06T06:11:11Z</dcterms:created>
  <dcterms:modified xsi:type="dcterms:W3CDTF">2026-07-06T06:11:11Z</dcterms:modified>
</cp:coreProperties>
</file>
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5 — no new theory. ~20 min briefing (slides), ~40 min supervised build. Students assemble the week's work into the graded retail Q&amp;A chatbot. Energy: this is a celebration day, not an exam.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 the arc: Monday they had never called an LLM; Friday they're assembling a tuned, robust chatbot. Today = pure assembly, graded, and it's the Week 1 layer of the final capstone.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a real engagement: they are the engineer, SmartMart is the client, v1.0 ships today. Deliverable = one notebook: working bot, passing tests, cost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10 acceptance tests ARE the requirements — no ambiguity. Each maps to a skill from the week. Tests are in the workbook; grading reruns them. Test 8 is a trap: asks for the price of a non-existent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is v4 + polish: message → cold classifier → warm answer with trimmed history → tagged response. Every piece maps to a specific day — nothing new today, only assembly.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10-minute milestones. Call out milestone transitions during the build. M3 is the iteration loop from Day 2 made real: diagnose failing tests against the anatomy, change one thing, re-run.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Transparent rubric: 50 tests, 20 prompt quality, 15 engineering, 10 cost report, 5 hygiene. Pass = 60. Bonus up to 10 from stretch goals. Grading = re-running their notebook — reproducibility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Debugging table: symptom → diagnosis → fix, for the five most common failures. Reinforce one-change-per-iteration. This slide stays up during the build (or students keep the workbook copy).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Stretch goals for fast finishers: intent-based reply routing (+4), JSON conversation log (+3), Hinglish (+3). Hard rule: core tests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point-killers, all preventable: hard-coded keys, non-reproducible notebooks, unverified claims, bloated prompts, skipped cost report. Announce 'Restart &amp; Run All before submitting'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Submission: Restart &amp; Run All, visible test outputs, standard filename, no key in file. Demo format: 90 seconds — normal question, survived trap, cost line. Frame as interview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Week 2: the finished bot still can't answer product questions — its knowledge is 15 hand-typed lines. RAG + ChromaDB gives it a real catalog. Syllabus: Week 2 adds RAG using product catalogs and inventory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the build. Call milestone transitions at 10/20/30 min. Circulate constantly; the script has a facilitation guide. Reference solution in the workbook appendix — announce it unlocks after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pride: from zero to a shipped, tested, costed chatbot in 5 days. Remind about submission deadline and the 90-second demos next session. Monday: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Day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Project: the Retail Q&amp;A Chatbot — built with prompt engineering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411480"/>
            <a:ext cx="868680" cy="86868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097" y="637337"/>
            <a:ext cx="416966" cy="41696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9776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01 · MODULE 05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0" name="Text 7"/>
          <p:cNvSpPr/>
          <p:nvPr/>
        </p:nvSpPr>
        <p:spPr>
          <a:xfrm>
            <a:off x="278892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WEEKLY PROJECT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397764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A3060"/>
          </a:solidFill>
          <a:ln/>
        </p:spPr>
      </p:sp>
      <p:sp>
        <p:nvSpPr>
          <p:cNvPr id="12" name="Text 9"/>
          <p:cNvSpPr/>
          <p:nvPr/>
        </p:nvSpPr>
        <p:spPr>
          <a:xfrm>
            <a:off x="589788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· BRIEF + BUILD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HOW FAR YOU'VE 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days ago you had never called an LLM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mental model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7512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next-token prediction,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API call ever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78608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6550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0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craft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43200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5-part anatomy,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few-shot, SmartBot v2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54296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18888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55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85816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18888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18888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API, memory,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cost meter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29984" y="1371600"/>
            <a:ext cx="1920240" cy="2240280"/>
          </a:xfrm>
          <a:prstGeom prst="roundRect">
            <a:avLst>
              <a:gd name="adj" fmla="val 3333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94576" y="153619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65506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61504" y="15727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894576" y="2148840"/>
            <a:ext cx="1591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knobs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894576" y="2606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budgets,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E5F4F3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Day 5: </a:t>
            </a:r>
            <a:pPr indent="0" marL="0">
              <a:buNone/>
            </a:pPr>
            <a:r>
              <a:rPr lang="en-US" sz="13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concepts. You assemble the four days into one deliverable — and it goes on your resume as Week 1 of your capstone.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brief: SmartMart's assistant, v1.0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886200" cy="3108960"/>
          </a:xfrm>
          <a:prstGeom prst="roundRect">
            <a:avLst>
              <a:gd name="adj" fmla="val 2059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7547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scenario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SmartMart, a Pune retail store, wants a customer assistant on its website. It must answer questions about the store, policies and products — accurately, warmly, and in under 3 sentences.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AI engineer. Ship v1.0 today.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663440" y="13716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 (one notebook, three parts)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18105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28032" y="19842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210312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9019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22219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SmartBot class: engineered prompt + tuned calls + memory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63440" y="27249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28032" y="28986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3017520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40680" y="28163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40680" y="3136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acceptance tests passing, output visible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3639312"/>
            <a:ext cx="3977640" cy="804672"/>
          </a:xfrm>
          <a:prstGeom prst="roundRect">
            <a:avLst>
              <a:gd name="adj" fmla="val 6818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28032" y="3813048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931920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3730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4050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summary: tokens &amp; ₹ for a 10-message conversation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acceptance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" y="1463040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store hours correctly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90872" y="1371600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1463040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14630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39512" y="1371600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return policy accurately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" y="2075688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75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1984248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delivery fee for a given cart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90872" y="1984248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00600" y="2075688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207568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39512" y="1984248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the current offer when relevant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596896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2688336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883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0" y="2596896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customer → empathy-first reply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90872" y="2596896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2688336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6" name="Text 24"/>
          <p:cNvSpPr/>
          <p:nvPr/>
        </p:nvSpPr>
        <p:spPr>
          <a:xfrm>
            <a:off x="4782312" y="268833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39512" y="2596896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stock → the exact 'check our system' line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209544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" y="3300984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3009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51560" y="3209544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Off-topic request → polite refusal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90872" y="3209544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300984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4" name="Text 32"/>
          <p:cNvSpPr/>
          <p:nvPr/>
        </p:nvSpPr>
        <p:spPr>
          <a:xfrm>
            <a:off x="4782312" y="33009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39512" y="3209544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a price (trap test!)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02920" y="3822192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37" name="Shape 35"/>
          <p:cNvSpPr/>
          <p:nvPr/>
        </p:nvSpPr>
        <p:spPr>
          <a:xfrm>
            <a:off x="612648" y="3913632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9136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51560" y="3822192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context across 3+ turns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690872" y="3822192"/>
            <a:ext cx="3950208" cy="502920"/>
          </a:xfrm>
          <a:prstGeom prst="roundRect">
            <a:avLst>
              <a:gd name="adj" fmla="val 10909"/>
            </a:avLst>
          </a:prstGeom>
          <a:solidFill>
            <a:srgbClr val="EEF3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800600" y="3913632"/>
            <a:ext cx="347472" cy="347472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2" name="Text 40"/>
          <p:cNvSpPr/>
          <p:nvPr/>
        </p:nvSpPr>
        <p:spPr>
          <a:xfrm>
            <a:off x="4782312" y="39136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39512" y="3822192"/>
            <a:ext cx="3264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≤ 3 sentences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live in your workbook — run them any time. Grading runs the same cells.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what you're assembling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874520"/>
            <a:ext cx="237744" cy="237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0" y="14630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86000" y="14630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87452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069080" y="14630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069080" y="14630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SmartBot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0.7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874520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852160" y="14630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852160" y="14630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187452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635240" y="1463040"/>
            <a:ext cx="1417320" cy="1051560"/>
          </a:xfrm>
          <a:prstGeom prst="roundRect">
            <a:avLst>
              <a:gd name="adj" fmla="val 608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635240" y="146304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tag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02920" y="2788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comes from a day of this week: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02920" y="320040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5F4F3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32004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(5-part anatomy + few-shot)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132320" y="32004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2920" y="365760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23" name="Text 17"/>
          <p:cNvSpPr/>
          <p:nvPr/>
        </p:nvSpPr>
        <p:spPr>
          <a:xfrm>
            <a:off x="731520" y="36576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client + robust_chat retry wrapper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132320" y="36576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02920" y="411480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5F4F3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41148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Two-speed calls: temp 0 classify, temp 0.7 answer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132320" y="4114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02920" y="4572000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EF3F7"/>
          </a:solidFill>
          <a:ln/>
        </p:spPr>
      </p:sp>
      <p:sp>
        <p:nvSpPr>
          <p:cNvPr id="29" name="Text 23"/>
          <p:cNvSpPr/>
          <p:nvPr/>
        </p:nvSpPr>
        <p:spPr>
          <a:xfrm>
            <a:off x="731520" y="457200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trim_history sliding window + finish_reason checks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132320" y="45720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minutes, four milestones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17904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3677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716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10 min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06040" y="13716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Perfect your system prompt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74920" y="1371600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best v2 prompt; add few-shot examples for the trap tests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231136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4963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23113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10 min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606040" y="22311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the class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074920" y="2231136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workbook TODOs: client, classifier, answer call, trimmer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090672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35584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9067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10 min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2606040" y="30906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the tests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074920" y="3090672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10 acceptance tests; fix prompt or settings until green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950208"/>
            <a:ext cx="8138160" cy="749808"/>
          </a:xfrm>
          <a:prstGeom prst="roundRect">
            <a:avLst>
              <a:gd name="adj" fmla="val 853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4096512"/>
            <a:ext cx="457200" cy="45720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15384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71600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10 min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2606040" y="395020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submit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074920" y="3950208"/>
            <a:ext cx="3429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cost report + demo conversation; save and submit the notebook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is the heart: red tests → diagnose with the Day 2 anatomy → fix ONE thing → re-run.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— 100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tests (10 × 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86200" y="1444752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4447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26280" y="137160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passing test, graded by re-running your notebook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0299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quality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86200" y="2103120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21031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02996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5-part anatomy, few-shot examples, sensible constraints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88336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68833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86200" y="2761488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2761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268833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temperatures, max_tokens set, finish_reason checked, memory trimmed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46704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3467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report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86200" y="3419856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2" name="Text 20"/>
          <p:cNvSpPr/>
          <p:nvPr/>
        </p:nvSpPr>
        <p:spPr>
          <a:xfrm>
            <a:off x="3886200" y="34198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34670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token &amp; ₹ accounting for a 10-message conversation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005072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0050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hygiene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86200" y="4078224"/>
            <a:ext cx="420624" cy="42062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4078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40050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key, cells run top-to-bottom cleanly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mark: 60. Stretch goals (next slides) can add up to 10 bonus points.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failing tests like an engineer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25880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8 fails: bot invents a price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08960" y="13258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constraint or weak context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13258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'never invent' rule; add a few-shot example of refusing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29968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10 fails: replies too long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20299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not enforced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202996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'Maximum 3 sentences' + max_tokens as the net + one short example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34056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5 fails: no empathy first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08960" y="273405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buried mid-prompt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27340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empathy rule up; add an angry-customer few-shot example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38144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3814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9 fails: forgets 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43814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not passed / over-trimmed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343814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 append BOTH roles; raise the trim budget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142232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42232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flaky: pass then fail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414223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too high for the task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4142232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to 0; answers to 0.6; re-run 3× to confirm stability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diagnosis → fix. Change ONE thing per iteration — Day 2's loop, now with a scoreboard.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goals — up to +10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 · Intent routing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840480" y="1463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reply style per intent: complaints get an apology template, refunds get escalation contact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2316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" y="275508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14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· Conversation log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840480" y="2514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exchange as JSON (customer, intent, tokens, cost) — a mini analytics feed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914400"/>
          </a:xfrm>
          <a:prstGeom prst="roundRect">
            <a:avLst>
              <a:gd name="adj" fmla="val 7000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67588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380664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661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 · Hinglish support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840480" y="3566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answer Hinglish queries naturally (test: 'kya aap sunday ko khule ho?')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core first — bonus attempts with failing core tests earn nothing.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LOSE MARKS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classic point-killers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44752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220" y="1544604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Hard-coded API key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703320" y="1325880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−5 and a security lecture. getpass or env vars, always.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029968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148840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20" y="2248692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0299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Cells don't run in order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703320" y="2029968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= Restart &amp; Run All. If it crashes halfway, tests can't pass.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2734056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2852928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2952780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73405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Untested 'it worked earlier'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703320" y="2734056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makes single runs meaningless — show the green output in the submitted notebook.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438144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" y="3557016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" y="3656868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43814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2,000-token system prompt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703320" y="3438144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marks in the report AND money. Tight beats long — Day 2 homework was the drill.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02920" y="4142232"/>
            <a:ext cx="8138160" cy="621792"/>
          </a:xfrm>
          <a:prstGeom prst="roundRect">
            <a:avLst>
              <a:gd name="adj" fmla="val 8824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" y="4261104"/>
            <a:ext cx="384048" cy="384048"/>
          </a:xfrm>
          <a:prstGeom prst="ellipse">
            <a:avLst/>
          </a:prstGeom>
          <a:solidFill>
            <a:srgbClr val="F7EED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" y="4360956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1422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Skipping the cost report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703320" y="4142232"/>
            <a:ext cx="4800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free points — it's two cells you already wrote on Day 3.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&amp;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EEF3F7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72768"/>
            <a:ext cx="502920" cy="502920"/>
          </a:xfrm>
          <a:prstGeom prst="ellipse">
            <a:avLst/>
          </a:prstGeom>
          <a:solidFill>
            <a:srgbClr val="DDE9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035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by end of day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24028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Restart &amp; Run All — must complete cleanly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 all 10 test outputs are visible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Rename: Week1_Project_YourName.ipynb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Share/submit per the class channel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must NOT be in the file — getpass leaves no trace.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90872" y="1371600"/>
            <a:ext cx="3950208" cy="3017520"/>
          </a:xfrm>
          <a:prstGeom prst="roundRect">
            <a:avLst>
              <a:gd name="adj" fmla="val 2121"/>
            </a:avLst>
          </a:prstGeom>
          <a:solidFill>
            <a:srgbClr val="1B1F3B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9472" y="1572768"/>
            <a:ext cx="502920" cy="50292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231" y="1703527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9552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90-second demo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919472" y="224028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session, each of you shows: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normal question answered well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trap survived (invented price / off-topic)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cost line for the conversation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the demo once — it's the same demo you'll give in placement interviews about this project.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weakness that Week 2 fixes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F7E6E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your finished bot: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price of the Prima kettle?”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the 750W mixer in stock?”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“Compare your 3 cheapest kettles.”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can't. Its only knowledge is the ~15 lines you typed into the system prompt — and you can't paste a 500-product catalog into every call.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90872" y="1371600"/>
            <a:ext cx="3950208" cy="2743200"/>
          </a:xfrm>
          <a:prstGeom prst="roundRect">
            <a:avLst>
              <a:gd name="adj" fmla="val 2333"/>
            </a:avLst>
          </a:prstGeom>
          <a:solidFill>
            <a:srgbClr val="E5F4F3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9472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2: RAG &amp; vector stores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9659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bot gets a real knowledge base: product catalogs and inventory documents, indexed in ChromaDB, retrieved automatically per question.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9472" y="3017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bot. Same prompts. Plus memory of 500 products it was never prompted with. That's the Week 2 mini-project.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40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time. Ship SmartBot v1.0.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3677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" y="1767535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3619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on the clock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60520" y="153619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prompt · 10 min wiring · 10 min tests · 10 min report + submit. I'll call each transition.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46888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64261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91" y="2773375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54203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Workbook = your guide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60520" y="254203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mark every gap. The debugging table from slide 8 is inside it. Reference solution unlocks after submission.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474720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2A3060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648456"/>
            <a:ext cx="502920" cy="502920"/>
          </a:xfrm>
          <a:prstGeom prst="ellipse">
            <a:avLst/>
          </a:prstGeom>
          <a:solidFill>
            <a:srgbClr val="3A41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77921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47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 &gt; 5 minutes?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160520" y="3547872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hand. Losing 20 minutes to a typo is not heroism — engineers ask.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week ago you had never called an LLM. Today you ship one. Go.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868680"/>
            <a:ext cx="914400" cy="914400"/>
          </a:xfrm>
          <a:prstGeom prst="ellipse">
            <a:avLst/>
          </a:prstGeom>
          <a:solidFill>
            <a:srgbClr val="2A306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11064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1: complete.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097280" y="26974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LLMs, engineer prompts, drive APIs like a professional, and tune every knob on the request. Your chatbot is real, tested, and costed.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35204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Monday: Week 2 — RAG &amp; vector stores. Your bot learns the entire catalog.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RoBoTics Research Center  ·  pmsroboticsrc@gmail.com  ·  (+91) 9960664674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Module 5 — Weekly Project: Retail Q&amp;A Chatbot</dc:title>
  <dc:subject>PptxGenJS Presentation</dc:subject>
  <dc:creator>PMS RoBoTics Research Center</dc:creator>
  <cp:lastModifiedBy>PMS RoBoTics Research Center</cp:lastModifiedBy>
  <cp:revision>1</cp:revision>
  <dcterms:created xsi:type="dcterms:W3CDTF">2026-07-10T13:19:56Z</dcterms:created>
  <dcterms:modified xsi:type="dcterms:W3CDTF">2026-07-10T13:19:56Z</dcterms:modified>
</cp:coreProperties>
</file>
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2. Yesterday they made their first API call and saw the system instruction work 'like magic'. Today we open the magic up: prompt engineering as a real engineering skill. 30 min theory, 30 min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Day 1, place today in the week map. Frame: yesterday's system instruction was a teaser; today we make prompting a deliberate engineering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motivation. Same model, same cost — the difference is entirely in the prompt. Read both prompts aloud. Define prompt engineering: designing model inputs deliberately to get reliable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5-part anatomy: Role, Task, Context, Format, Constraints. This is the checklist students will apply all month. Memorable line: every failing prompt is missing one of these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prompting: naming a persona shifts vocabulary, tone, depth, caution. Demo in practical: same question, three roles. Connect to yesterday's SmartBot system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Specificity across 5 dimensions: length, audience, tone, scope, output. Vague words like 'short' and 'nice' mean nothing measurable. Mantra: the model can't read your mind, only your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 = teaching by example, exploiting next-token pattern-matching. The classification example is exactly what they'll code in the practical — real retail use case: routing support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Chain-of-thought: asking for intermediate steps improves multi-step reasoning because each generated step becomes context for the next prediction. Tie back to next-token mechanics from Day 1. Note: modern models often reason internally, but explicit CoT still helps and makes answers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output: prompt for exact JSON schema. This turns LLM output into machine-usable data — the practical extracts order details from a messy email. Bridge from chat toy to real software; agents in Week 3 depend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anti-patterns with fixes. These come from real student work — call them out with humour. 'Trusting blindly' sets up the iteration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draft → test → diagnose → refine. Professional practice: version prompts, change one variable at a time. In Week 4 this becomes formal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practical: SmartBot v1 was naive; v2 gets an engineered system prompt, few-shot intent classification, JSON extraction, and tested refusals. The checklist on the right is the practical's definition of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practical. Same free-tier Gemini setup as yesterday. Highlight the finale: a break-my-bot exercise where neighbours attack each other's SmartBot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toolbox, preview Module 3 (LLM APIs across providers). Homework: harden SmartBot v2 against three attack prompts collected from classmates.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effective prompts for real-world tasks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 · MODULE 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GENERATIVE AI FOUNDATIONS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talk to an LLM. Now steer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560320"/>
          </a:xfrm>
          <a:prstGeom prst="roundRect">
            <a:avLst>
              <a:gd name="adj" fmla="val 25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Yesterday's 3 takeaways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the next token — nothing more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603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called Gemini from Python (SmartBot v1)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054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instruction changed its whole behaviour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3" name="Text 8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LLMs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6" name="Text 11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today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9" name="Text 14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in depth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2" name="Text 17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parameters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5" name="Text 20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project: retail Q&amp;A chatbot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steering wheel of the model — and today you get your driving licence.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model. Wildly different results.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697480"/>
          </a:xfrm>
          <a:prstGeom prst="roundRect">
            <a:avLst>
              <a:gd name="adj" fmla="val 237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prompt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011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“Write about our kettle.”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 generic words, wrong tone, invents features, useless for the website.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90872" y="1371600"/>
            <a:ext cx="3950208" cy="2697480"/>
          </a:xfrm>
          <a:prstGeom prst="roundRect">
            <a:avLst>
              <a:gd name="adj" fmla="val 237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5727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prompt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919472" y="201168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5056632" y="208483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are a copywriter for SmartMart. Write a 40-word product description of the Prima 1.5L electric kettle for our website. Tone: warm, practical. Mention: auto shut-off, 1-yr warranty. No emojis.”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919472" y="3383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exactly 40 usable words, right tone, only real features.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programming in plain language — precision in, precision out.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well-built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26464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531071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23160" y="13258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the model be?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3258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are a customer-support agent for SmartMart…”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20116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112264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216871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0116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423160" y="20116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clear, specific instruction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20116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“Answer the customer's question about returns.”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26974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" y="2798064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2902671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6974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423160" y="26974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it needs (it can't guess)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26974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“Return policy: 7 days with receipt…”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33832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" y="3483864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588471"/>
            <a:ext cx="193121" cy="1931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3832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423160" y="33832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output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46320" y="33832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“Reply in 2 sentences, then add one emoji-free sign-off.”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40690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29" name="Shape 23"/>
          <p:cNvSpPr/>
          <p:nvPr/>
        </p:nvSpPr>
        <p:spPr>
          <a:xfrm>
            <a:off x="658368" y="4169664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274271"/>
            <a:ext cx="193121" cy="19312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40690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2423160" y="40690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boundaries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846320" y="40690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“If unsure, say so. Never invent prices.”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02920" y="4754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prompt needs all five — but every failing prompt is missing one of them.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prompting — give the model a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8803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read millions of texts by teachers, lawyers, support agents and poets. Naming a role activates the right patterns: vocabulary, tone, depth and caution all shift at once.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APIs, the role usually lives in the system instruction — exactly what SmartBot used yesterday.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— “Why is the sky blue?”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5F4F3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physics professor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2112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“Rayleigh scattering: shorter wavelengths scatter ∝ 1/λ⁴…”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62432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5F4F3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kindergarten teacher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“Sunlight is like a box of crayons, and the blue crayon bounces the most!”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3465576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5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poet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sky wears the ocean's memory…”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— say exactly what you want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177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“short”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772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“maximum 3 sentences” / “40–60 words”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02536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025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0025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“simple”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0025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“for a customer with no technical background”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334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“nice”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633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“warm and professional; no slang, no emojis”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64408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64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3264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“about returns”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264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“ONLY the refund timeline; do not discuss exchanges”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895344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95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38953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“list it”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3895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 numbered list, one line each, no intro sentence”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read your mind — it can only read your prompt.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prompting — show, don't tell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383280" cy="28803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describing the rule, give 2–5 worked examples. The model detects the pattern and continues it — often more reliably than any instruction.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0-shot: no examples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1-shot: one example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few-shot: several examples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60520" y="1371600"/>
            <a:ext cx="4480560" cy="288036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34840" y="1536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support messages: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1920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“Where is my order #4521?”  →  ORDER_STATUS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34840" y="23774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kettle arrived broken.”  →  COMPLAINT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34840" y="2834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“Do you have this in blue?”  →  PRODUCT_QUERY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34840" y="3291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want my money back!”  →  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34840" y="3767328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3A417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completes:  REFUND_REQUEST  ✓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is how you teach formats, labels and styles that are hard to describe in words.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“Think step by step” — unlocking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kettle costs ₹2,400 after a 25% discount plus ₹200 delivery. What was the original price?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950208" cy="1737360"/>
          </a:xfrm>
          <a:prstGeom prst="roundRect">
            <a:avLst>
              <a:gd name="adj" fmla="val 3684"/>
            </a:avLst>
          </a:prstGeom>
          <a:solidFill>
            <a:srgbClr val="F7E6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487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answer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original price was ₹3,250.”  — plausible-sounding, wrong. One token chain, no working shown.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90872" y="2331720"/>
            <a:ext cx="3950208" cy="1737360"/>
          </a:xfrm>
          <a:prstGeom prst="roundRect">
            <a:avLst>
              <a:gd name="adj" fmla="val 3684"/>
            </a:avLst>
          </a:prstGeom>
          <a:solidFill>
            <a:srgbClr val="E5F4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14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487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“Solve step by step”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9472" y="2926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“Price minus delivery: 2400−200 = 2200. That is 75% of original: 2200 ÷ 0.75 = ₹2,933.33.” — the reasoning becomes part of the predicted text.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4297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the model predicts one token at a time — asking for steps lets each step condition the next. You'll verify this live in the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— prompt for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2834640"/>
          </a:xfrm>
          <a:prstGeom prst="roundRect">
            <a:avLst>
              <a:gd name="adj" fmla="val 225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answers are for humans. Applications need data. If you specify an exact JSON schema in the prompt, the model's output plugs straight into your code — databases, dashboards, order systems.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from “chatbot” to “software”.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  →  structured data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17556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ordered a mixer grinder last week, order 7788, still not here!! i'm in Pune. – Priya”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355080" y="26974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34840" y="306324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1B1F3B"/>
          </a:solidFill>
          <a:ln/>
        </p:spPr>
      </p:sp>
      <p:sp>
        <p:nvSpPr>
          <p:cNvPr id="15" name="Text 11"/>
          <p:cNvSpPr/>
          <p:nvPr/>
        </p:nvSpPr>
        <p:spPr>
          <a:xfrm>
            <a:off x="4617720" y="31546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"customer": "Priya",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"order_id": "7788",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"product": "mixer grinder",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"issue": "delivery_delay",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"Pune" 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prompt anti-patterns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35608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535460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mind-reader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7180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it better.”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0" y="1325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how? Define the axis: shorter, friendlier, more formal…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002536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112264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212116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025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kitchen sink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71800" y="20025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prompt asking for 7 things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0" y="20025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steps — one task per prompt beats one mega-prompt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2679192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888772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791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Burying the ask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2971800" y="2679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instruction hidden mid-paragraph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486400" y="26791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task first; use clear sections for context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355848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565428"/>
            <a:ext cx="184343" cy="184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355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Negation overload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2971800" y="33558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“Don't be long, don't be boring…”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0" y="3355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TO do: “3 sentences, conversational tone”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4032504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EF3F7"/>
          </a:solidFill>
          <a:ln/>
        </p:spPr>
      </p:sp>
      <p:sp>
        <p:nvSpPr>
          <p:cNvPr id="29" name="Shape 23"/>
          <p:cNvSpPr/>
          <p:nvPr/>
        </p:nvSpPr>
        <p:spPr>
          <a:xfrm>
            <a:off x="640080" y="4142232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242084"/>
            <a:ext cx="184343" cy="1843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403250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Trusting blindly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2971800" y="403250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Accepting output unread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0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with tricky inputs — you'll do this today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HABIT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are code — iterate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Draft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624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v1 using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5-part anatomy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28600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5176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3464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399" y="17309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3464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Test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834640" y="2624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normal, edge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inputs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8600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0060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98348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239" y="173095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Diagnose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983480" y="2624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anatomy part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was missing?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28600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4944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13232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3079" y="1730959"/>
            <a:ext cx="241402" cy="24140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Refine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7132320" y="2624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 thing,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re-test, repeat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02920" y="370332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5F4F3"/>
          </a:solidFill>
          <a:ln/>
        </p:spPr>
      </p:sp>
      <p:sp>
        <p:nvSpPr>
          <p:cNvPr id="28" name="Text 19"/>
          <p:cNvSpPr/>
          <p:nvPr/>
        </p:nvSpPr>
        <p:spPr>
          <a:xfrm>
            <a:off x="731520" y="3703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versions, note what changed and why, and never edit two things at once — otherwise you won't know what fixed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SmartBot gets its personality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v1 (yesterday)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hard-coded rules; friendly but easily confused; no examples, no output rules.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v2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5-part system prompt · few-shot examples for tricky cases · consistent format · graceful “I don't know” · refusal rules that hold.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v2 must handle (your practical goal)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store questions in ≤ 3 sentences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incoming messages by intent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order details as clean JSON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off-topic requests politely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Admits uncertainty instead of inventing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prompt engineering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setup as Day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 Gemini key + the Module 2 notebook. Setup takes 2 minutes.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experiments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→ specific · role prompting · few-shot classifier · step-by-step reasoning · JSON extraction.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SmartBot v2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everything into one engineered system prompt — and try to break it.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today with a SmartBot that survives your classmates' attempts to break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engineer's toolbox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5-part anatomy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task · context · format ·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tell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teach patterns instructions can't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steps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makes answers better and checkable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like an engineer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test → diagnose → refine, one change at a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3: </a:t>
            </a:r>
            <a:pPr indent="0" marL="0">
              <a:buNone/>
            </a:pPr>
            <a:r>
              <a:rPr lang="en-US" sz="13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LLM APIs — OpenAI, Anthropic and open-source models. Your prompts meet professional plumbing.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Module 2 — Prompt Engineering</dc:title>
  <dc:subject>PptxGenJS Presentation</dc:subject>
  <dc:creator>PMS RoBoTics Research Center</dc:creator>
  <cp:lastModifiedBy>PMS RoBoTics Research Center</cp:lastModifiedBy>
  <cp:revision>1</cp:revision>
  <dcterms:created xsi:type="dcterms:W3CDTF">2026-07-07T04:18:47Z</dcterms:created>
  <dcterms:modified xsi:type="dcterms:W3CDTF">2026-07-07T04:18:47Z</dcterms:modified>
</cp:coreProperties>
</file>
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3. So far students used one provider (Gemini) with training wheels. Today: the professional plumbing — how LLM APIs work in general, the provider landscape, and porting SmartBot to a new engine (OpenAI) to prove prompts are portable.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Days 1-2, place Day 3. Frame: prompts are portable assets; today we learn the plumbing that carries them — and prove it by moving SmartBot from Gemini to OpenAI.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 the API call: code builds JSON request, HTTPS to provider datacenter, GPUs generate, JSON response returns. Emphasize statelessness — the 'chat memory' they saw is client-side bookkeeping, which they'll build by hand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system/user/assistant message list is the lingua franca of LLM APIs. To create 'memory' you append each exchange and resend the whole list — connect to the stateless point from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Provider landscape: OpenAI (GPT), Anthropic (Claude), Google (Gemini — the free tier students used), open-source (Llama/Mistral/Qwen — free weights, self-hosted). Model names churn constantly; the pattern is the durable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snippets side by side. Don't read every line — point at the shape: client, request with model+messages, extract text. 5-line difference between providers. Today's practical uses the OpenAI column; model names on the slide are examples — always check the provider's current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hygiene: keys are identity + billing. Real story: leaked keys on GitHub get exploited in minutes. Rules: no hard-coding, no commits, spend limits. Show env-var pattern; in notebooks we use getpass.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economics: input + output rates, output pricier. Walk the SmartBot math — a chatbot serving 1,000 customers/day can cost less than ₹100/day on a budget model, but 10-30x more on a flagship. Rates change often; the METHOD of computing cost is the lesson. Practical reads response.usage.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 by task: mini for classification/extraction at volume, standard for chat, flagship for reasoning/agents. Engineering rule: cheapest model that passes your tests. One product often mixes tiers — SmartBot can classify with mini and chat with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failure modes: 429 rate limit (retry with backoff), 401 auth (fail fast), 5xx (retry then degrade), timeouts (set limits). Students already met 429 on the free tier. Practical implements a retry wrapper.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Open-source: downloadable weights, run via Ollama locally or hosted APIs. Choose for privacy, volume economics, fine-tuning control, independence. Trade-off: you become the ops team. Optional demo: ollama run on your laptop if installed.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SmartBot v3: same prompt, new engine (OpenAI), hand-built memory, error handling, cost tracking, swappable model variable. The unchanged system prompt IS the proof that prompts are portable.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practical. Explain the key logistics you chose (shared instructor key with spend limit, or individual keys). Emphasize: this is the exact workflow used in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4 ideas, preview Module 4 (tokens/temperature/context windows — the config= parameter they haven't touched yet). Homework: cost report + provider comparison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LLM APIs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Anthropic · Google · open-source models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01 · MODULE 03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GENERATIVE AI FOUNDATIONS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THEORY + PRACTICAL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done. Now: the engine.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2560320"/>
          </a:xfrm>
          <a:prstGeom prst="roundRect">
            <a:avLst>
              <a:gd name="adj" fmla="val 25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have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933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model: next-token prediction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603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4871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5-part prompt anatomy + 5 techniques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2724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0540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SmartBot v2 — engineered, tested, hardened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663440" y="1371600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3" name="Text 8"/>
          <p:cNvSpPr/>
          <p:nvPr/>
        </p:nvSpPr>
        <p:spPr>
          <a:xfrm>
            <a:off x="4846320" y="13716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577840" y="137160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LLMs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3440" y="1938528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6" name="Text 11"/>
          <p:cNvSpPr/>
          <p:nvPr/>
        </p:nvSpPr>
        <p:spPr>
          <a:xfrm>
            <a:off x="4846320" y="1938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577840" y="193852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505456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19" name="Text 14"/>
          <p:cNvSpPr/>
          <p:nvPr/>
        </p:nvSpPr>
        <p:spPr>
          <a:xfrm>
            <a:off x="4846320" y="25054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577840" y="250545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 — today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3072384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2" name="Text 17"/>
          <p:cNvSpPr/>
          <p:nvPr/>
        </p:nvSpPr>
        <p:spPr>
          <a:xfrm>
            <a:off x="4846320" y="30723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577840" y="30723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parameters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3639312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5" name="Text 20"/>
          <p:cNvSpPr/>
          <p:nvPr/>
        </p:nvSpPr>
        <p:spPr>
          <a:xfrm>
            <a:off x="4846320" y="363931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577840" y="363931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project: retail Q&amp;A chatbot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promise: your prompts stay the same — the engine becomes swappable.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PLUMBING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happens in an API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874520" cy="187452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6852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762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Python code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57860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request: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messages + settings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19456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51760" y="1371600"/>
            <a:ext cx="1874520" cy="187452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834640" y="155448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399" y="168523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34640" y="21762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request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834640" y="257860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travels to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provider's servers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19456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800600" y="1371600"/>
            <a:ext cx="1874520" cy="187452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983480" y="155448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239" y="168523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83480" y="21762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datacenter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983480" y="257860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generates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for YOUR prompt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2194560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949440" y="1371600"/>
            <a:ext cx="1874520" cy="187452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132320" y="155448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3079" y="1685239"/>
            <a:ext cx="241402" cy="24140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32320" y="21762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response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7132320" y="257860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usage stats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into your code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502920" y="352044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E5F4F3"/>
          </a:solidFill>
          <a:ln/>
        </p:spPr>
      </p:sp>
      <p:sp>
        <p:nvSpPr>
          <p:cNvPr id="28" name="Text 19"/>
          <p:cNvSpPr/>
          <p:nvPr/>
        </p:nvSpPr>
        <p:spPr>
          <a:xfrm>
            <a:off x="731520" y="35204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consequences:  </a:t>
            </a:r>
            <a:pPr indent="0" marL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runs on your laptop — you need internet, you pay per call, your data leaves your machine, and every call is stateless: the API remembers nothing between requests. Memory is YOUR job.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Chats are lists of messages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480560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"system",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"You are SmartBot..."},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"When do you close?"},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"assistant",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"We close at 9 PM."},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"And on Sundays?"}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57800" y="13716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40680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40680" y="1755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orders — personality, rules, facts. Set once by YOU, invisible to the customer.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57800" y="2395728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2487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27797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says. Every question, every reply.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3419856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0680" y="35112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38039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answered before — you send it back so it 'remembers'.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provider uses this pattern — learn it once, use it everywhere.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provider landscape in 2026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83080" y="1325880"/>
            <a:ext cx="1764792" cy="402336"/>
          </a:xfrm>
          <a:prstGeom prst="roundRect">
            <a:avLst>
              <a:gd name="adj" fmla="val 11364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1325880"/>
            <a:ext cx="1764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02736" y="1325880"/>
            <a:ext cx="1764792" cy="402336"/>
          </a:xfrm>
          <a:prstGeom prst="roundRect">
            <a:avLst>
              <a:gd name="adj" fmla="val 11364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3602736" y="1325880"/>
            <a:ext cx="1764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22392" y="1325880"/>
            <a:ext cx="1764792" cy="402336"/>
          </a:xfrm>
          <a:prstGeom prst="roundRect">
            <a:avLst>
              <a:gd name="adj" fmla="val 11364"/>
            </a:avLst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5422392" y="1325880"/>
            <a:ext cx="1764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42048" y="1325880"/>
            <a:ext cx="1764792" cy="402336"/>
          </a:xfrm>
          <a:prstGeom prst="roundRect">
            <a:avLst>
              <a:gd name="adj" fmla="val 11364"/>
            </a:avLst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7242048" y="1325880"/>
            <a:ext cx="1764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783080"/>
            <a:ext cx="1188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1783080"/>
            <a:ext cx="1764792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1783080"/>
            <a:ext cx="1764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family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02736" y="1783080"/>
            <a:ext cx="1764792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3602736" y="1783080"/>
            <a:ext cx="1764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family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22392" y="1783080"/>
            <a:ext cx="1764792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5422392" y="1783080"/>
            <a:ext cx="1764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family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42048" y="1783080"/>
            <a:ext cx="1764792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7242048" y="1783080"/>
            <a:ext cx="1764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Llama, Mistral,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441448"/>
            <a:ext cx="1188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83080" y="2441448"/>
            <a:ext cx="1764792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1783080" y="2441448"/>
            <a:ext cx="1764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02736" y="2441448"/>
            <a:ext cx="1764792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26" name="Text 24"/>
          <p:cNvSpPr/>
          <p:nvPr/>
        </p:nvSpPr>
        <p:spPr>
          <a:xfrm>
            <a:off x="3602736" y="2441448"/>
            <a:ext cx="1764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22392" y="2441448"/>
            <a:ext cx="1764792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28" name="Text 26"/>
          <p:cNvSpPr/>
          <p:nvPr/>
        </p:nvSpPr>
        <p:spPr>
          <a:xfrm>
            <a:off x="5422392" y="2441448"/>
            <a:ext cx="1764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+ paid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42048" y="2441448"/>
            <a:ext cx="1764792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30" name="Text 28"/>
          <p:cNvSpPr/>
          <p:nvPr/>
        </p:nvSpPr>
        <p:spPr>
          <a:xfrm>
            <a:off x="7242048" y="2441448"/>
            <a:ext cx="17647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weights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host or rent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099816"/>
            <a:ext cx="11887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83080" y="3099816"/>
            <a:ext cx="1764792" cy="813816"/>
          </a:xfrm>
          <a:prstGeom prst="roundRect">
            <a:avLst>
              <a:gd name="adj" fmla="val 5618"/>
            </a:avLst>
          </a:prstGeom>
          <a:solidFill>
            <a:srgbClr val="EEF3F7"/>
          </a:solidFill>
          <a:ln/>
        </p:spPr>
      </p:sp>
      <p:sp>
        <p:nvSpPr>
          <p:cNvPr id="33" name="Text 31"/>
          <p:cNvSpPr/>
          <p:nvPr/>
        </p:nvSpPr>
        <p:spPr>
          <a:xfrm>
            <a:off x="1783080" y="3099816"/>
            <a:ext cx="176479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02736" y="3099816"/>
            <a:ext cx="1764792" cy="813816"/>
          </a:xfrm>
          <a:prstGeom prst="roundRect">
            <a:avLst>
              <a:gd name="adj" fmla="val 5618"/>
            </a:avLst>
          </a:prstGeom>
          <a:solidFill>
            <a:srgbClr val="EEF3F7"/>
          </a:solidFill>
          <a:ln/>
        </p:spPr>
      </p:sp>
      <p:sp>
        <p:nvSpPr>
          <p:cNvPr id="35" name="Text 33"/>
          <p:cNvSpPr/>
          <p:nvPr/>
        </p:nvSpPr>
        <p:spPr>
          <a:xfrm>
            <a:off x="3602736" y="3099816"/>
            <a:ext cx="176479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agents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22392" y="3099816"/>
            <a:ext cx="1764792" cy="813816"/>
          </a:xfrm>
          <a:prstGeom prst="roundRect">
            <a:avLst>
              <a:gd name="adj" fmla="val 5618"/>
            </a:avLst>
          </a:prstGeom>
          <a:solidFill>
            <a:srgbClr val="EEF3F7"/>
          </a:solidFill>
          <a:ln/>
        </p:spPr>
      </p:sp>
      <p:sp>
        <p:nvSpPr>
          <p:cNvPr id="37" name="Text 35"/>
          <p:cNvSpPr/>
          <p:nvPr/>
        </p:nvSpPr>
        <p:spPr>
          <a:xfrm>
            <a:off x="5422392" y="3099816"/>
            <a:ext cx="176479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42048" y="3099816"/>
            <a:ext cx="1764792" cy="813816"/>
          </a:xfrm>
          <a:prstGeom prst="roundRect">
            <a:avLst>
              <a:gd name="adj" fmla="val 5618"/>
            </a:avLst>
          </a:prstGeom>
          <a:solidFill>
            <a:srgbClr val="EEF3F7"/>
          </a:solidFill>
          <a:ln/>
        </p:spPr>
      </p:sp>
      <p:sp>
        <p:nvSpPr>
          <p:cNvPr id="39" name="Text 37"/>
          <p:cNvSpPr/>
          <p:nvPr/>
        </p:nvSpPr>
        <p:spPr>
          <a:xfrm>
            <a:off x="7242048" y="3099816"/>
            <a:ext cx="176479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control,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per-token fees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4114800"/>
            <a:ext cx="8138160" cy="64008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reality: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switch providers as prices and models change monthly. Your skill is the pattern, not the brand.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PORTABILITY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prompt, three SDKs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51760" cy="2743200"/>
          </a:xfrm>
          <a:prstGeom prst="roundRect">
            <a:avLst>
              <a:gd name="adj" fmla="val 241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99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OpenAI(api_key=KEY)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client.chat.completions.create(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model="gpt-4o-mini",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messages=[{"role":"user",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PROMPT}])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print(r.choices[0]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.message.content)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2743200"/>
          </a:xfrm>
          <a:prstGeom prst="roundRect">
            <a:avLst>
              <a:gd name="adj" fmla="val 241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499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847088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 import genai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genai.Client(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api_key=KEY)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client.models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.generate_content(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model="gemini-2.0-flash",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contents=PROMPT)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print(r.text)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89320" y="1371600"/>
            <a:ext cx="2651760" cy="2743200"/>
          </a:xfrm>
          <a:prstGeom prst="roundRect">
            <a:avLst>
              <a:gd name="adj" fmla="val 241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499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1847088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.Anthropic(api_key=KEY)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client.messages.create(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model="claude-sonnet-5",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max_tokens=500,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messages=[{"role":"user",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PROMPT}])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print(r.content[0].text)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names, same three moves: make a client → send model + messages → read the text.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HYGIENE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keys: identity, billing &amp;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1554480"/>
          </a:xfrm>
          <a:prstGeom prst="roundRect">
            <a:avLst>
              <a:gd name="adj" fmla="val 411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6852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72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key = your identity + your wallet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billed to the key. A leaked key means strangers spend YOUR money within minutes — bots scan GitHub for keys 24/7.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108960"/>
            <a:ext cx="3886200" cy="1417320"/>
          </a:xfrm>
          <a:prstGeom prst="roundRect">
            <a:avLst>
              <a:gd name="adj" fmla="val 4516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32461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commandments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58444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Never hard-code keys in source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Never commit keys to Git — ever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 a monthly spend limit in the dashboard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pattern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1755648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F7E6E3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8745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do this: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api_key="sk-proj-Abc123...")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312724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E5F4F3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3246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ALWAYS: environment variable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terminal: export OPENAI_API_KEY=...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  # reads env var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(in notebooks: getpass, like we do)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pay per token — in AND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71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= (input tokens × input rate) + (output tokens × output rate)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tokens are usually 2-4x pricier than input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2606040" cy="1828800"/>
          </a:xfrm>
          <a:prstGeom prst="roundRect">
            <a:avLst>
              <a:gd name="adj" fmla="val 35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SmartBot reply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tokens in (system prompt + question)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tokens out (3-sentence answer)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₹0.02–0.08 on a budget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2377440"/>
            <a:ext cx="2606040" cy="1828800"/>
          </a:xfrm>
          <a:prstGeom prst="roundRect">
            <a:avLst>
              <a:gd name="adj" fmla="val 35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47288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customers/day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~600K tokens/day on a budget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47288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₹20–80/day — cheaper than a round of chai for the team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2377440"/>
            <a:ext cx="2606040" cy="1828800"/>
          </a:xfrm>
          <a:prstGeom prst="roundRect">
            <a:avLst>
              <a:gd name="adj" fmla="val 3500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08776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on a flagship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08776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10–30× the per-token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08776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₹600–2,000/day — choose models deliberately!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389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practical you'll read response.usage and compute the real rupee cost of your own calls.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model: quality vs cost vs speed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6852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 / mini tier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520440" y="1463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extraction,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Q&amp;A, high volume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2940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SmartBot's intent classifier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37744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269107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468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tier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20440" y="2468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chat, drafting,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summarisation, RAG answers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62940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SmartBot's conversation brain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38328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56616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369691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 tier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3520440" y="3474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reasoning, agents,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high-stakes output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629400" y="3474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3's agent decisions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4434840"/>
            <a:ext cx="8138160" cy="502920"/>
          </a:xfrm>
          <a:prstGeom prst="roundRect">
            <a:avLst>
              <a:gd name="adj" fmla="val 12727"/>
            </a:avLst>
          </a:prstGeom>
          <a:solidFill>
            <a:srgbClr val="E5F4F3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cheapest model that passes your tests — upgrade only when the tests fail.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errors every LLM app must survive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63040"/>
            <a:ext cx="402336" cy="402336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1567647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 · Rate limit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91840" y="13258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requests per minute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13258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and retry with exponential backoff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093976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2231136"/>
            <a:ext cx="402336" cy="402336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2335743"/>
            <a:ext cx="193121" cy="1931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09397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 · Auth error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91840" y="20939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or expired API key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852160" y="209397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with a clear message — don't retry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2862072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2999232"/>
            <a:ext cx="402336" cy="402336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3103839"/>
            <a:ext cx="193121" cy="1931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286207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5xx · Server error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291840" y="28620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having a bad day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852160" y="28620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 few times, then degrade gracefully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3630168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3767328"/>
            <a:ext cx="402336" cy="402336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3871935"/>
            <a:ext cx="193121" cy="1931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36301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291840" y="36301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taking too long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852160" y="36301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explicit timeouts; never hang the user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Amateur code assumes the API always answers. Professional code assumes it sometimes won't.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Open-source: own the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651760"/>
          </a:xfrm>
          <a:prstGeom prst="roundRect">
            <a:avLst>
              <a:gd name="adj" fmla="val 24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6852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72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“open” means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148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weights are downloadable. Run them on your own GPU (Ollama makes it one command: 'ollama run llama3'), on a rented cloud GPU, or via hosted APIs (Groq, Together, Hugging Face).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Families: Llama (Meta), Mistral, Qwen, Gemma — new leaders every few months.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open-source when…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810512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E5F4F3"/>
          </a:solidFill>
          <a:ln/>
        </p:spPr>
      </p:sp>
      <p:sp>
        <p:nvSpPr>
          <p:cNvPr id="12" name="Shape 9"/>
          <p:cNvSpPr/>
          <p:nvPr/>
        </p:nvSpPr>
        <p:spPr>
          <a:xfrm>
            <a:off x="4809744" y="1911096"/>
            <a:ext cx="365760" cy="36576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842" y="2006194"/>
            <a:ext cx="175565" cy="1755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8105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data must never leave your servers (hospitals, banks)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2468880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E5F4F3"/>
          </a:solidFill>
          <a:ln/>
        </p:spPr>
      </p:sp>
      <p:sp>
        <p:nvSpPr>
          <p:cNvPr id="16" name="Shape 12"/>
          <p:cNvSpPr/>
          <p:nvPr/>
        </p:nvSpPr>
        <p:spPr>
          <a:xfrm>
            <a:off x="4809744" y="2569464"/>
            <a:ext cx="365760" cy="36576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842" y="2664562"/>
            <a:ext cx="175565" cy="1755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2468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millions of calls where per-token fees kill the budget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127248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E5F4F3"/>
          </a:solidFill>
          <a:ln/>
        </p:spPr>
      </p:sp>
      <p:sp>
        <p:nvSpPr>
          <p:cNvPr id="20" name="Shape 15"/>
          <p:cNvSpPr/>
          <p:nvPr/>
        </p:nvSpPr>
        <p:spPr>
          <a:xfrm>
            <a:off x="4809744" y="3227832"/>
            <a:ext cx="365760" cy="36576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842" y="3322930"/>
            <a:ext cx="175565" cy="1755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31272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you want to fine-tune or modify the model itself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63440" y="3785616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E5F4F3"/>
          </a:solidFill>
          <a:ln/>
        </p:spPr>
      </p:sp>
      <p:sp>
        <p:nvSpPr>
          <p:cNvPr id="24" name="Shape 18"/>
          <p:cNvSpPr/>
          <p:nvPr/>
        </p:nvSpPr>
        <p:spPr>
          <a:xfrm>
            <a:off x="4809744" y="3886200"/>
            <a:ext cx="365760" cy="36576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842" y="3981298"/>
            <a:ext cx="175565" cy="1755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37856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Independence: no vendor can deprecate your model overnight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you gain control, you inherit ops — GPUs, updates, scaling are now your problem.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SmartBot gets a professional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36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SmartBot v2 (yesterday)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prompt — but glued to one provider, no memory management, crashes on the first network hiccup.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3886200" cy="1554480"/>
          </a:xfrm>
          <a:prstGeom prst="roundRect">
            <a:avLst>
              <a:gd name="adj" fmla="val 411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SmartBot v3 (today)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OpenAI · manages its own conversation history · survives rate limits and timeouts · reports its own cost per conversation.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v3 must do (your practical goal)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81051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91109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93792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v2 system prompt — zero changes needed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340864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2340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memory built by hand (messages list)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63440" y="2871216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97180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+ retry wrapper around every call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3401568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5021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93792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tracking: tokens &amp; ₹ per conversation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63440" y="393192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03250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93792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swappable with one variable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the API engine 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setup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0" y="153619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 an OpenAI key (instructor-provided or your own) — the paid-API workflow professionals use.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experiments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86200" y="25420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 &amp; roles · build memory by hand · port SmartBot v2 · read usage &amp; cost · survive errors.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SmartBot v3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86200" y="354787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class, engineered prompt, memory, retries and a live cost meter.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today with a SmartBot that would survive a real Monday morning in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engineer's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pattern everywhere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model + messages → text; providers differ by ~5 lines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is stateless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= you resending history; it's YOUR code's job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are money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usage on every call; cheapest model that passes your tests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failure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429s, timeouts and 5xxs WILL happen — retry, backoff, degrade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Module 4: </a:t>
            </a:r>
            <a:pPr indent="0" marL="0">
              <a:buNone/>
            </a:pPr>
            <a:r>
              <a:rPr lang="en-US" sz="13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temperature, context windows and model parameters — the tuning knobs behind every call you made today.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Module 3 — Working with LLM APIs</dc:title>
  <dc:subject>PptxGenJS Presentation</dc:subject>
  <dc:creator>PMS RoBoTics Research Center</dc:creator>
  <cp:lastModifiedBy>PMS RoBoTics Research Center</cp:lastModifiedBy>
  <cp:revision>1</cp:revision>
  <dcterms:created xsi:type="dcterms:W3CDTF">2026-07-08T13:13:11Z</dcterms:created>
  <dcterms:modified xsi:type="dcterms:W3CDTF">2026-07-08T13:13:11Z</dcterms:modified>
</cp:coreProperties>
</file>
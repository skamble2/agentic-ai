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of Week 3. Two big ideas, both diagram-first per plan. MCP: a standard protocol so ANY agent can use ANY tool server — the USB analogy. Multi-agent: splitting one hard job across specialist agents. Both drawn as system interaction diagrams, same style as Day 1's sequence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connection problems: tools hardwired into agents (MCP fixes), one overloaded agent (multi-agent fixes). Frame both as connection — tool↔agent and agent↔agent.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M×N problem: without a standard, every agent × every tool = a custom integration. MCP collapses it to M+N: build a tool server once, any MCP-speaking agent uses it. Analogy: before USB, every device had its own port; USB standardised the plug.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architecture: HOST (your agent app) contains one CLIENT per SERVER; SERVER exposes tools + resources + prompts over JSON-RPC (stdio for local, HTTP for remote). Separation of ownership: server team owns the tool; you just connect. Resources/prompts are the two capabilities beyond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diagram — walk it slowly. Discovery phase (1-4): agent → client → server tools/list → schemas come back → registered into the loop. This is NEW vs Day 3 (tools were hardcoded; now they're discovered at runtime). Call phase (5-8): identical to Day 1's sequence diagram, just relayed through the client+server. Same machine, one more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code: FastMCP server with @mcp.tool() (=Day 3's @tool, one layer out); client does initialize → list_tools (discovery) → call_tool (dispatch across a process). Everything maps to what they built. Practical builds an in-process version to keep it dependency-light + a real stdio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MCP won: reuse (ecosystem of servers), ownership/security (server-side control), swappability (cross-vendor), richer capabilities (resources + prompts). Honest caveat: overkill for a single agent with private tools — Day 3 native is fine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motivation: one agent with too many tools/responsibilities degrades. Split into specialists (few tools, short prompt, one job). It's Day 2's routing grown into agents. Same discipline: split only when measured overload, not for architecture aesthetics.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Supervisor pattern: a routing agent whose tools ARE other agents (call_sales_agent, etc.) — recursion of Day 1's loop. Workers are leaf agents, don't talk to each other. Most common production pattern: clear control, traceable, bounded. This is what the practical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Handoff (swarm): control passes agent-to-agent, holder talks to user (OpenAI Swarm style). Network: any-to-any, max flexibility min control. The warning is the real lesson: multi-agent multiplies cost/latency/debugging pain; supervisor first, network almost never. Compounding errors across agents is the killer.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Supervisor sequence diagram: user → supervisor (THINK: orders job) → call_orders_agent (a tool that IS an agent) → that agent runs its own loop (track_order) → result bubbles back up → supervisor relays. The recursion is the key insight: an agent-tool runs a nested loop. Same diagram vocabulary as slide 5 and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fit: Friday builds the syllabus agent (inventory/orders/pricing). Students choose single-agent (likely enough) or supervisor. Tools via own registry or MCP-style server. ReAct traces graded. Guardrails previewed, formalised Week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in-process MCP-style server+client (discovery over a boundary, dependency-light) then a supervisor over two specialists. Optional real stdio MCP appendix cell for the curious. Both connection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tomorrow is Week 3's graded assembly. Homework: connect a real public MCP server (or read one's schema), sketch the SmartMart agent as a supervisor diagram, decide single vs multi for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&amp; Multi-Agent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port for tools · agents that talk to agents — every mechanism a diagram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 · MODULE 04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TOOLS, MEMORY, REASONING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977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CODE-FIRST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connect it to the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 left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Your tools are hand-wired INTO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your agent. Every new tool = edit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agent. Every team reinvents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same wiring. → MCP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One agent + 30 tools + a 5000-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token prompt gets confused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slow. Split the job. → multi-agent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atoms: tools + the loop, hand-rolled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 — five controlled shapes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 · ReAct · LangChain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multi-agent (system diagrams)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the SmartMart agent (graded)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about CONNECTION — tool-to-agent (MCP) and agent-to-agent (multi-agent). Same idea, two directions.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M×N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tool integration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standard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74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47802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81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8745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874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247802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247802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308152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081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2103120"/>
            <a:ext cx="1371600" cy="0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2103120"/>
            <a:ext cx="1371600" cy="603504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2103120"/>
            <a:ext cx="1371600" cy="1207008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706624"/>
            <a:ext cx="1371600" cy="-603504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2706624"/>
            <a:ext cx="1371600" cy="0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2706624"/>
            <a:ext cx="1371600" cy="603504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3310128"/>
            <a:ext cx="1371600" cy="-1207008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3310128"/>
            <a:ext cx="1371600" cy="-603504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3080" y="3310128"/>
            <a:ext cx="1371600" cy="0"/>
          </a:xfrm>
          <a:prstGeom prst="line">
            <a:avLst/>
          </a:prstGeom>
          <a:noFill/>
          <a:ln w="9525">
            <a:solidFill>
              <a:srgbClr val="C05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× N custom integrations — every agent re-wires every tool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9472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MCP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919472" y="187452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19472" y="247802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9472" y="24780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19472" y="3081528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19472" y="30815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55080" y="2148840"/>
            <a:ext cx="82296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21488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0" y="187452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8952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2478024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24780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308152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589520" y="30815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25312" y="2103120"/>
            <a:ext cx="429768" cy="1033272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78040" y="2532888"/>
            <a:ext cx="411480" cy="-603504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25312" y="2706624"/>
            <a:ext cx="429768" cy="429768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8040" y="2532888"/>
            <a:ext cx="411480" cy="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25312" y="3310128"/>
            <a:ext cx="429768" cy="-173736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2532888"/>
            <a:ext cx="411480" cy="603504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N — write a tool server ONCE, any MCP agent uses 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= one open standard for how agents talk to tool servers. The USB-C of AI tools.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roles: host, client,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 (your agent app)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0747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1–3)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71800" y="187452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71800" y="18745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server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60520" y="2258568"/>
            <a:ext cx="12344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396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965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JSON-RPC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160520" y="2395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44068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62356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623560" y="1874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 (functions to call)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resources  (data to read)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prompts  (templates)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…owned by whoever built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— not you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2920" y="365760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separation: </a:t>
            </a:r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owns the tool (its code, its auth, its updates); your HOST just speaks the protocol. SmartMart's inventory team ships an MCP server; your agent — and everyone else's — connects without touching their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INTERACTION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MCP tool call,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98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(host)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1737360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14600" y="1298448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298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00600" y="1298448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98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737360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995160" y="1298448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298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737360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51560" y="2011680"/>
            <a:ext cx="21488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952" y="192024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61288" y="175564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initialize + list_tools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200400" y="2331720"/>
            <a:ext cx="22860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224028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10128" y="207568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tools/list  (JSON-RPC)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00400" y="2651760"/>
            <a:ext cx="2286000" cy="0"/>
          </a:xfrm>
          <a:prstGeom prst="line">
            <a:avLst/>
          </a:prstGeom>
          <a:noFill/>
          <a:ln w="19050">
            <a:solidFill>
              <a:srgbClr val="6B7290"/>
            </a:solidFill>
            <a:prstDash val="dash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72968" y="256032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10128" y="239572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[check_inventory schema, ...]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1051560" y="2971800"/>
            <a:ext cx="2148840" cy="0"/>
          </a:xfrm>
          <a:prstGeom prst="line">
            <a:avLst/>
          </a:prstGeom>
          <a:noFill/>
          <a:ln w="19050">
            <a:solidFill>
              <a:srgbClr val="6B7290"/>
            </a:solidFill>
            <a:prstDash val="dash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24128" y="2880360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61288" y="271576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tools registered → into the LLM loop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1051560" y="3291840"/>
            <a:ext cx="44348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320040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61288" y="3035808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tools/call check_inventory {P-101}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5486400" y="3611880"/>
            <a:ext cx="219456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352044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96128" y="335584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SELECT stock WHERE id='P-101'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5486400" y="3931920"/>
            <a:ext cx="2194560" cy="0"/>
          </a:xfrm>
          <a:prstGeom prst="line">
            <a:avLst/>
          </a:prstGeom>
          <a:noFill/>
          <a:ln w="19050">
            <a:solidFill>
              <a:srgbClr val="6B7290"/>
            </a:solidFill>
            <a:prstDash val="dash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458968" y="3840480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596128" y="367588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42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1051560" y="4251960"/>
            <a:ext cx="4434840" cy="0"/>
          </a:xfrm>
          <a:prstGeom prst="line">
            <a:avLst/>
          </a:prstGeom>
          <a:noFill/>
          <a:ln w="19050">
            <a:solidFill>
              <a:srgbClr val="6B7290"/>
            </a:solidFill>
            <a:prstDash val="dash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24128" y="416052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61288" y="3995928"/>
            <a:ext cx="4215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result: "42 units" → back to THINK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= DISCOVERY (once, at startup): the agent asks what tools exist. Steps 5–8 = the same THINK/ACT/OBSERVE you know — the client just relays it over the protocol.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server and a client, minimal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160520" cy="3383280"/>
          </a:xfrm>
          <a:prstGeom prst="roundRect">
            <a:avLst>
              <a:gd name="adj" fmla="val 189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(the tool owner writes this)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FastMCP("smartmart")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check_inventory(product_id: str) -&gt; str: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"""Units in stock for a catalog ID."""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f"{STOCK[product_id]} units"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mcp.run()   # speaks JSON-RPC over stdio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(your agent connects)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stdio_client(params) as (r, w):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ClientSession(r, w) as sess: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sess.initialize()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 = await sess.list_tools()   # discover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await sess.call_tool(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"check_inventory", {"product_id":"P-101"})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79476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 ≈ @tool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7465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decorator, one layer out — docstring + hints → the schema, again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79476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list_tools() is the new verb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8895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DISCOVERY — the agent asks what's available; nothing hardcoded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611880"/>
            <a:ext cx="379476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call_tool() = dispatch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0325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TOOLS[name](**args), now across a process boundary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standard buys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4680" y="132588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ships MCP servers for Slack, GitHub, Postgres, Google Drive, Stripe… plug them in, don't rebuild them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221992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40487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237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21992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&amp; security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54680" y="2221992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team controls auth, rate limits, and what's exposed — inside THEIR server, not your prompt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118104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1985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18104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Swappable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154680" y="3118104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 across Claude, OpenAI agents, Cursor, and more — write the server once, it works everywhere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4014216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159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14216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tools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154680" y="4014216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(read-only data the agent can pull) and prompts (server-provided templates) — richer than function calling alone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47914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for ONE agent + a few private tools, native function calling (Day 3) is simpler. MCP earns its weight at scale &amp; across teams.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agent isn't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overloaded agent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65960" y="1874520"/>
            <a:ext cx="685800" cy="685800"/>
          </a:xfrm>
          <a:prstGeom prst="ellipse">
            <a:avLst/>
          </a:prstGeom>
          <a:solidFill>
            <a:srgbClr val="F7DAD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20528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tools · 5,000-token prompt · 6 responsibilities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picks wrong tools, forgets rules,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impossible to debug or test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9472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into specialists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937760" y="192024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92024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(catalog tools)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53912" y="192024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53912" y="192024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 tools)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70064" y="192024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70064" y="192024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tools)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19472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few tools, short prompt, one job.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prompt, test, and reason about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2's 'routing', grown into agents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(same spirit as Day 2): don't split for fun. Split when one agent's prompt/tools genuinely overflow — measure, then divide.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PATTERN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— one boss, many workers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359152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20116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28800" y="2011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2423160"/>
            <a:ext cx="502920" cy="-73152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1920" y="14173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0" y="14173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66360" y="1691640"/>
            <a:ext cx="502920" cy="1005840"/>
          </a:xfrm>
          <a:prstGeom prst="line">
            <a:avLst/>
          </a:prstGeom>
          <a:noFill/>
          <a:ln w="15875">
            <a:solidFill>
              <a:srgbClr val="7A6FA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383280" y="2423160"/>
            <a:ext cx="502920" cy="4572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1945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93192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66360" y="2468880"/>
            <a:ext cx="502920" cy="228600"/>
          </a:xfrm>
          <a:prstGeom prst="line">
            <a:avLst/>
          </a:prstGeom>
          <a:noFill/>
          <a:ln w="15875">
            <a:solidFill>
              <a:srgbClr val="7A6FA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383280" y="2423160"/>
            <a:ext cx="502920" cy="82296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297180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931920" y="29718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66360" y="3246120"/>
            <a:ext cx="502920" cy="-548640"/>
          </a:xfrm>
          <a:prstGeom prst="line">
            <a:avLst/>
          </a:prstGeom>
          <a:noFill/>
          <a:ln w="15875">
            <a:solidFill>
              <a:srgbClr val="7A6FA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5715000" y="21488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1500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</a:t>
            </a:r>
            <a:endParaRPr lang="en-US" sz="8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04288"/>
            <a:ext cx="237744" cy="23774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543800" y="214884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543800" y="2148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are just TOOLS to the supervisor — an agent whose 'functions' are other agents (recursion!)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2920" y="393192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5F4F3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pattern in production.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is a normal agent (Day 3) — but its tools are call_sales_agent(), call_orders_agent(). Clear control, easy to trace, bounded cost. Workers never talk to each other.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PATTERNS B &amp;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· and the honest warning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Handoff (swarm)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373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38528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5960" y="173736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65960" y="17373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938528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173736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91840" y="17373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864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PASSES agent→agent; whoever holds it talks to the user. No central boss.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90872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Network (any-to-any)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0" y="178308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48640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949440" y="178308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9494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17920" y="26060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21792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26480" y="2011680"/>
            <a:ext cx="822960" cy="0"/>
          </a:xfrm>
          <a:prstGeom prst="line">
            <a:avLst/>
          </a:prstGeom>
          <a:noFill/>
          <a:ln w="12700">
            <a:solidFill>
              <a:srgbClr val="7A6FA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06440" y="2240280"/>
            <a:ext cx="411480" cy="365760"/>
          </a:xfrm>
          <a:prstGeom prst="line">
            <a:avLst/>
          </a:prstGeom>
          <a:noFill/>
          <a:ln w="12700">
            <a:solidFill>
              <a:srgbClr val="7A6FA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49440" y="2240280"/>
            <a:ext cx="-411480" cy="365760"/>
          </a:xfrm>
          <a:prstGeom prst="line">
            <a:avLst/>
          </a:prstGeom>
          <a:noFill/>
          <a:ln w="12700">
            <a:solidFill>
              <a:srgbClr val="7A6FA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90872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can call everyone — max flexibility, min control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2920" y="3611880"/>
            <a:ext cx="8138160" cy="1234440"/>
          </a:xfrm>
          <a:prstGeom prst="roundRect">
            <a:avLst>
              <a:gd name="adj" fmla="val 5185"/>
            </a:avLst>
          </a:prstGeom>
          <a:solidFill>
            <a:srgbClr val="F7E6E3"/>
          </a:solidFill>
          <a:ln/>
        </p:spPr>
      </p:sp>
      <p:sp>
        <p:nvSpPr>
          <p:cNvPr id="26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7DAD5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4016959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361188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warning: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= more LLM calls, more latency, more cost, and MUCH harder debugging — errors compound across agents. Start with a supervisor. Reach for handoff/network only when a single supervisor genuinely can't express the flow. Most teams never need C.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INTERACTION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supervisor delegating,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1325880"/>
            <a:ext cx="1426464" cy="438912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325880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764792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21408" y="1325880"/>
            <a:ext cx="1426464" cy="438912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21408" y="1325880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764792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407408" y="1325880"/>
            <a:ext cx="1426464" cy="438912"/>
          </a:xfrm>
          <a:prstGeom prst="roundRect">
            <a:avLst>
              <a:gd name="adj" fmla="val 125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07408" y="1325880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764792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876288" y="1325880"/>
            <a:ext cx="1426464" cy="438912"/>
          </a:xfrm>
          <a:prstGeom prst="roundRect">
            <a:avLst>
              <a:gd name="adj" fmla="val 12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1325880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1764792"/>
            <a:ext cx="0" cy="288036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0" y="2057400"/>
            <a:ext cx="19202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96596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18105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“where is order 4521?”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834640" y="2377440"/>
            <a:ext cx="457200" cy="0"/>
          </a:xfrm>
          <a:prstGeom prst="line">
            <a:avLst/>
          </a:prstGeom>
          <a:noFill/>
          <a:ln w="19050">
            <a:solidFill>
              <a:srgbClr val="F4B8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2267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THINK: orders job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834640" y="2724912"/>
            <a:ext cx="22860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633472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944368" y="24780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call_orders_agent("...4521?")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120640" y="3054096"/>
            <a:ext cx="246888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962656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0368" y="280720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track_order("4521")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120640" y="3383280"/>
            <a:ext cx="246888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93208" y="329184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30368" y="313639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shipped, ETA tomorrow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2834640" y="3712464"/>
            <a:ext cx="22860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807208" y="3621024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944368" y="346557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"Order 4521 shipped, ETA tomorrow"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914400" y="4041648"/>
            <a:ext cx="19202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86968" y="3950208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24128" y="379476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supervisor relays to user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502920" y="4754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recursion: step 3 is the supervisor calling a TOOL that happens to be a whole agent — which then runs its OWN Day 1 loop (step 4). Loops inside loops.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TOMORROW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 shapes the graded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063240"/>
          </a:xfrm>
          <a:prstGeom prst="roundRect">
            <a:avLst>
              <a:gd name="adj" fmla="val 209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7476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SmartMart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Syllabus: “turn your chatbot into an agent that checks inventory, tracks orders, and looks up pricing.” You now have EVERY building block — and two architectures to choose from.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trace quality + acceptance tests, like Weeks 1–2.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architecture menu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(Day 3 native loop) — simplest, likely enough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supervisor over 2–3 specialists — if tools overflow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from your own registry OR an MCP-style server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traces required (Day 3) — that's the graded artifact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preview: max_steps, tool_choice on risky tools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connect &amp; delegate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MCP-style server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registry behind a discover()/call() interface — then a client that discovers tools at runtime (slide 5, live).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supervisor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specialist agents (sales, orders) become TOOLS of a supervisor agent — recursion you can watch in the trace.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real questions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queries flow to the right specialist; print the delegation trace and compare with slide 11's diagram.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having built both connections — tool↔agent (MCP-style) and agent↔agent (supervisor).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= USB for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integrations → M+N; server owns the tool, host just speaks the protocol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is the new verb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list_tools() at runtime — tools stop being hardcoded into the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can be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supervisor's 'functions' are other agents — Day 1's loop, recursed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with discipline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first; more agents = more cost, latency &amp; debugging pain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5, assembly day: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SmartMart agent — inventory, orders, pricing. Bring your best tools, your architecture choice, and your ReAct traces.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Module 4 — MCP &amp; Multi-Agent Systems</dc:title>
  <dc:subject>PptxGenJS Presentation</dc:subject>
  <dc:creator>PMS RoBoTics Research Center</dc:creator>
  <cp:lastModifiedBy>PMS RoBoTics Research Center</cp:lastModifiedBy>
  <cp:revision>1</cp:revision>
  <dcterms:created xsi:type="dcterms:W3CDTF">2026-07-23T12:49:05Z</dcterms:created>
  <dcterms:modified xsi:type="dcterms:W3CDTF">2026-07-23T12:49:05Z</dcterms:modified>
</cp:coreProperties>
</file>
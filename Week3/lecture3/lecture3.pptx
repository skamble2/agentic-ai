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3 of Week 3. Day 1: hand-rolled loop. Day 2: controlled workflows. Today: the loop rebuilt on professional plumbing — native function calling (typed tool_calls), ReAct reasoning, real memory, and LangChain read as an X-ray of what they already built.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Today's ladder: native tools → ReAct → memory → LangChain. Frame: no new concepts — professional versions of Day 1's states. Friday's agent uses today's plumbing.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weak spots of Day 1's version → what native fixes: parsed tool_calls objects, trained tool selection, parallel calls, schema-validated args. Machine unchanged; joints hardened.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tools schema: JSON-schema per function — name/description (LLM-facing) + typed parameters (code-facing). Passed via tools= on every call. Description quality still decides tool choice.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message ledger for one native round trip: user → assistant(tool_calls object) → tool(result, matched by id) → assistant(final). Connect to W1D3's system/user/assistant list — two new row types, nothing else changed. The id matching enables parallel calls.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native loop: tools= replaces the DECIDE prompt; m.tool_calls is the branch; the inner for handles parallel calls; role:tool entries close the loop. States identical to Day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ReAct: split THINK into visible THOUGHT + ACTION. Implementation: one system-prompt instruction; assistant message carries content (thought) AND tool_calls (action). Why: better choice (CoT for actions), debuggable traces, the ReAct paper lineage.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Memory layers: working (ledger in-run), conversation (ledger across turns), trimming (W1D4 sliding window). NEW constraint: tool_calls + tool replies are an atomic unit for trimming — orphaned tool messages error the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LangChain decoded: @tool builds the schema from docstring+type hints; bind_tools = tools= plumbing; .tool_calls = same parsed objects; AgentExecutor/LangGraph = the packaged loop. Nothing students haven't built by hand.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Balanced judgment: frameworks for integrations/team-speed/prototyping (and LangGraph for multi-agent graphs — tomorrow); raw for core-product control, debugging, dependency stability. Friday accepts either.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Production knobs: tool_choice (force/name a tool), strict schemas, parallel_tool_calls off for side-effect ordering, and the eternal timeout+max_steps. Bridge to Week 4 guardrails.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V0→V1: native, parallel, ReAct, memory, flags. Friday's graded agent = V1 + Day 4's patterns + the project tools. Practical goals mirror the ladder.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Practical: schemas + ledger inspection, native loop + parallel + ReAct, memory + LangChain mapping. langchain install takes ~1 min — flag it early.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Recap; tomorrow MCP (standardised tool protocol, sequence diagrams like Day 1's) + multi-agent patterns. Homework: strict mode, tool_choice experiment, 5-run reliability comparison V0 vs V1.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 ROBOTICS RESEARCH CENTER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Loop, Done Properly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function calling · ReAct · memory · the LangChain X-ray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635240" y="411480"/>
            <a:ext cx="868680" cy="868680"/>
          </a:xfrm>
          <a:prstGeom prst="ellipse">
            <a:avLst/>
          </a:prstGeom>
          <a:solidFill>
            <a:srgbClr val="2A306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1097" y="637337"/>
            <a:ext cx="416966" cy="41696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3977640"/>
            <a:ext cx="2057400" cy="457200"/>
          </a:xfrm>
          <a:prstGeom prst="roundRect">
            <a:avLst>
              <a:gd name="adj" fmla="val 16000"/>
            </a:avLst>
          </a:prstGeom>
          <a:solidFill>
            <a:srgbClr val="2A3060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39776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03 · MODULE 03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788920" y="3977640"/>
            <a:ext cx="3291840" cy="457200"/>
          </a:xfrm>
          <a:prstGeom prst="roundRect">
            <a:avLst>
              <a:gd name="adj" fmla="val 16000"/>
            </a:avLst>
          </a:prstGeom>
          <a:solidFill>
            <a:srgbClr val="2A3060"/>
          </a:solidFill>
          <a:ln/>
        </p:spPr>
      </p:sp>
      <p:sp>
        <p:nvSpPr>
          <p:cNvPr id="10" name="Text 7"/>
          <p:cNvSpPr/>
          <p:nvPr/>
        </p:nvSpPr>
        <p:spPr>
          <a:xfrm>
            <a:off x="2788920" y="39776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— TOOLS, MEMORY, REASONING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446520" y="3977640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2A3060"/>
          </a:solidFill>
          <a:ln/>
        </p:spPr>
      </p:sp>
      <p:sp>
        <p:nvSpPr>
          <p:cNvPr id="12" name="Text 9"/>
          <p:cNvSpPr/>
          <p:nvPr/>
        </p:nvSpPr>
        <p:spPr>
          <a:xfrm>
            <a:off x="6446520" y="39776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 · CODE-FIRST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machine, professional parts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886200" cy="2606040"/>
          </a:xfrm>
          <a:prstGeom prst="roundRect">
            <a:avLst>
              <a:gd name="adj" fmla="val 2456"/>
            </a:avLst>
          </a:prstGeom>
          <a:solidFill>
            <a:srgbClr val="E5F4F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5448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upgrade ladder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3429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Native function calling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B2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(typed tool_calls, no JSON parsing)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B2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ReAct — reasoning out loud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B2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(better tool choice, debuggable)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B2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Memory — across turns, trimmed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B2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(W1D4's window discipline returns)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B2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LangChain — the packaged loop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B2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(you'll read it like an X-ray)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3977640" cy="493776"/>
          </a:xfrm>
          <a:prstGeom prst="roundRect">
            <a:avLst>
              <a:gd name="adj" fmla="val 11111"/>
            </a:avLst>
          </a:prstGeom>
          <a:solidFill>
            <a:srgbClr val="E5F4F3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371600"/>
            <a:ext cx="685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577840" y="1371600"/>
            <a:ext cx="2971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atoms: tools + the loop, hand-rolled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938528"/>
            <a:ext cx="3977640" cy="493776"/>
          </a:xfrm>
          <a:prstGeom prst="roundRect">
            <a:avLst>
              <a:gd name="adj" fmla="val 11111"/>
            </a:avLst>
          </a:prstGeom>
          <a:solidFill>
            <a:srgbClr val="E5F4F3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938528"/>
            <a:ext cx="685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577840" y="1938528"/>
            <a:ext cx="2971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patterns — five controlled shapes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2505456"/>
            <a:ext cx="3977640" cy="493776"/>
          </a:xfrm>
          <a:prstGeom prst="roundRect">
            <a:avLst>
              <a:gd name="adj" fmla="val 11111"/>
            </a:avLst>
          </a:prstGeom>
          <a:solidFill>
            <a:srgbClr val="1B1F3B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2505456"/>
            <a:ext cx="685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577840" y="2505456"/>
            <a:ext cx="2971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function calling · ReAct · LangChain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3072384"/>
            <a:ext cx="3977640" cy="493776"/>
          </a:xfrm>
          <a:prstGeom prst="roundRect">
            <a:avLst>
              <a:gd name="adj" fmla="val 11111"/>
            </a:avLst>
          </a:prstGeom>
          <a:solidFill>
            <a:srgbClr val="EEF3F7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3072384"/>
            <a:ext cx="685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577840" y="3072384"/>
            <a:ext cx="2971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&amp; multi-agent (system diagrams)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3639312"/>
            <a:ext cx="3977640" cy="493776"/>
          </a:xfrm>
          <a:prstGeom prst="roundRect">
            <a:avLst>
              <a:gd name="adj" fmla="val 11111"/>
            </a:avLst>
          </a:prstGeom>
          <a:solidFill>
            <a:srgbClr val="EEF3F7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3639312"/>
            <a:ext cx="685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577840" y="3639312"/>
            <a:ext cx="2971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Mini-project: the SmartMart agent (graded)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42062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conceptually new today — every upgrade maps 1:1 onto Day 1's THINK/ACT/OBSERVE. That's the point.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hand-rolled loop creaks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8138160" cy="804672"/>
          </a:xfrm>
          <a:prstGeom prst="roundRect">
            <a:avLst>
              <a:gd name="adj" fmla="val 7955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325880"/>
            <a:ext cx="1600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5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 as text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423160" y="1325880"/>
            <a:ext cx="2880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TYPES braces; sometimes malformed, fenced, or chatty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394960" y="1325880"/>
            <a:ext cx="3108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returns tool_calls as parsed OBJECTS — guaranteed structure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02920" y="2221992"/>
            <a:ext cx="8138160" cy="804672"/>
          </a:xfrm>
          <a:prstGeom prst="roundRect">
            <a:avLst>
              <a:gd name="adj" fmla="val 7955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2221992"/>
            <a:ext cx="1600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5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choice via prose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423160" y="2221992"/>
            <a:ext cx="2880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list pasted into the prompt; selection is vibes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394960" y="2221992"/>
            <a:ext cx="3108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are TRAINED on the tools schema — measurably better selection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3118104"/>
            <a:ext cx="8138160" cy="804672"/>
          </a:xfrm>
          <a:prstGeom prst="roundRect">
            <a:avLst>
              <a:gd name="adj" fmla="val 7955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3118104"/>
            <a:ext cx="1600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5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tool per turn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423160" y="3118104"/>
            <a:ext cx="2880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DECIDE forces single calls — 'price of A and B' takes 2 loops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394960" y="3118104"/>
            <a:ext cx="3108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returns MULTIPLE tool_calls in one turn — parallel execution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4014216"/>
            <a:ext cx="8138160" cy="804672"/>
          </a:xfrm>
          <a:prstGeom prst="roundRect">
            <a:avLst>
              <a:gd name="adj" fmla="val 7955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4014216"/>
            <a:ext cx="1600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5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Args unvalidated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423160" y="4014216"/>
            <a:ext cx="2880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{'product': ...} vs {'product_id': ...} — TypeError roulette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394960" y="4014216"/>
            <a:ext cx="3108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JSON-schema types per argument; strict mode enforces them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" y="479145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THINK/ACT/OBSERVE machine — the API just hardens every joint.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become schemas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4937760" cy="3383280"/>
          </a:xfrm>
          <a:prstGeom prst="roundRect">
            <a:avLst>
              <a:gd name="adj" fmla="val 1892"/>
            </a:avLst>
          </a:prstGeom>
          <a:solidFill>
            <a:srgbClr val="1B1F3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463040"/>
            <a:ext cx="44805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TOOLS_SCHEMA = [{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"type": "function",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"function":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"name": "check_inventory",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"description": "How many units of a\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product are in stock right now.",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"parameters":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"type": "object",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"properties":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"product_id":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"type": "string",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"description": "Catalog ID, e.g. P-101"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"required": ["product_id"]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}]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client.chat.completions.create(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model=MODEL, messages=msgs,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tools=TOOLS_SCHEMA)          # ← that's it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23560" y="1325880"/>
            <a:ext cx="3017520" cy="1024128"/>
          </a:xfrm>
          <a:prstGeom prst="roundRect">
            <a:avLst>
              <a:gd name="adj" fmla="val 5357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806440" y="139903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two audiences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806440" y="1746504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name+description = the docstring (LLM-facing); parameters = typed args (code-facing). Day 1's insight, formalised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623560" y="2468880"/>
            <a:ext cx="3017520" cy="1024128"/>
          </a:xfrm>
          <a:prstGeom prst="roundRect">
            <a:avLst>
              <a:gd name="adj" fmla="val 5357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806440" y="254203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API carries it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806440" y="2889504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tools= travels with every call — no more pasting descriptions into your prompt text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623560" y="3611880"/>
            <a:ext cx="3017520" cy="1024128"/>
          </a:xfrm>
          <a:prstGeom prst="roundRect">
            <a:avLst>
              <a:gd name="adj" fmla="val 5357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06440" y="368503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Description quality still rules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806440" y="4032504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schemas don't fix lazy descriptions — your Day 1 homework lesson survives every framework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round trip in the message ledger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6309360" cy="566928"/>
          </a:xfrm>
          <a:prstGeom prst="roundRect">
            <a:avLst>
              <a:gd name="adj" fmla="val 9677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43560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role: user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86000" y="1371600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B2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"Is P-101 in stock?"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903720" y="137160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append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02920" y="2066544"/>
            <a:ext cx="6309360" cy="777240"/>
          </a:xfrm>
          <a:prstGeom prst="roundRect">
            <a:avLst>
              <a:gd name="adj" fmla="val 7059"/>
            </a:avLst>
          </a:prstGeom>
          <a:solidFill>
            <a:srgbClr val="1B1F3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213055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role: assistant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86000" y="2066544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tool_calls: [{id: "call_7x2", name: "check_inventory",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args: {"product_id": "P-101"}}]   ← an OBJECT, not text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903720" y="2066544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returns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2971800"/>
            <a:ext cx="6309360" cy="566928"/>
          </a:xfrm>
          <a:prstGeom prst="roundRect">
            <a:avLst>
              <a:gd name="adj" fmla="val 9677"/>
            </a:avLst>
          </a:prstGeom>
          <a:solidFill>
            <a:srgbClr val="E5F4F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" y="303580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role: tool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86000" y="2971800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B2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tool_call_id: "call_7x2"   content: "42"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903720" y="297180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append after executing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3666744"/>
            <a:ext cx="6309360" cy="566928"/>
          </a:xfrm>
          <a:prstGeom prst="roundRect">
            <a:avLst>
              <a:gd name="adj" fmla="val 9677"/>
            </a:avLst>
          </a:prstGeom>
          <a:solidFill>
            <a:srgbClr val="1B1F3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" y="373075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role: assistant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286000" y="3666744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"Yes! 42 units of the Prima 1.5L in stock."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903720" y="366674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returns (2nd call)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2920" y="4343400"/>
            <a:ext cx="8138160" cy="594360"/>
          </a:xfrm>
          <a:prstGeom prst="roundRect">
            <a:avLst>
              <a:gd name="adj" fmla="val 10769"/>
            </a:avLst>
          </a:prstGeom>
          <a:solidFill>
            <a:srgbClr val="E5F4F3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34340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new roles, same ledger: </a:t>
            </a:r>
            <a:pPr indent="0" marL="0">
              <a:buNone/>
            </a:pPr>
            <a:r>
              <a:rPr lang="en-US" sz="11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messages can carry tool_calls; role:"tool" carries results back, matched by id. W1D3's message list grew two rows — that's ALL that changed.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NATIVE 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1's 15 lines, hardened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5212080" cy="3383280"/>
          </a:xfrm>
          <a:prstGeom prst="roundRect">
            <a:avLst>
              <a:gd name="adj" fmla="val 1892"/>
            </a:avLst>
          </a:prstGeom>
          <a:solidFill>
            <a:srgbClr val="1B1F3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46304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agent(question, max_steps=5):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msgs = [{"role": "user", "content": question}]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step in range(max_steps):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 = client.chat.completions.create(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model=MODEL, messages=msgs,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tools=TOOLS_SCHEMA)          # THINK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 = r.choices[0].message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not m.tool_calls: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m.content              # DONE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msgs.append(m)                    # ledger!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tc in m.tool_calls:           # maybe SEVERAL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result = TOOLS[tc.function.name](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**json.loads(tc.function.arguments))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msgs.append({                 # OBSERVE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"role": "tool",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"tool_call_id": tc.id,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"content": str(result)})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"Step limit reached."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897880" y="1325880"/>
            <a:ext cx="2743200" cy="1024128"/>
          </a:xfrm>
          <a:prstGeom prst="roundRect">
            <a:avLst>
              <a:gd name="adj" fmla="val 5357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053328" y="1399032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DECIDE prompt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053328" y="1746504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tools= parameter replaced it; no json.loads on prose, no fence-stripping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897880" y="2468880"/>
            <a:ext cx="2743200" cy="1024128"/>
          </a:xfrm>
          <a:prstGeom prst="roundRect">
            <a:avLst>
              <a:gd name="adj" fmla="val 5357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53328" y="2542032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tc in tool_calls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53328" y="2889504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'price of P-101 AND P-103' = TWO calls in ONE turn — half the LLM calls of Day 1's loop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897880" y="3611880"/>
            <a:ext cx="2743200" cy="1024128"/>
          </a:xfrm>
          <a:prstGeom prst="roundRect">
            <a:avLst>
              <a:gd name="adj" fmla="val 5357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53328" y="3685032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States unchanged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53328" y="4032504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/ ACT / OBSERVE / DONE — find them in the comments. Slide 9 of Day 1 still IS the diagram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— make the thinking visible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50208" cy="1737360"/>
          </a:xfrm>
          <a:prstGeom prst="roundRect">
            <a:avLst>
              <a:gd name="adj" fmla="val 3684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4813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1's THINK state, opened up: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77240" y="1874520"/>
            <a:ext cx="1188720" cy="685800"/>
          </a:xfrm>
          <a:prstGeom prst="ellipse">
            <a:avLst/>
          </a:prstGeom>
          <a:solidFill>
            <a:srgbClr val="F4B860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87452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THOUGHT</a:t>
            </a:r>
            <a:endParaRPr lang="en-US" sz="1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7400" y="2084832"/>
            <a:ext cx="237744" cy="23774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395728" y="1874520"/>
            <a:ext cx="1188720" cy="685800"/>
          </a:xfrm>
          <a:prstGeom prst="ellipse">
            <a:avLst/>
          </a:prstGeom>
          <a:solidFill>
            <a:srgbClr val="1B1F3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395728" y="187452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77240" y="26974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in words first — THEN pick the tool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02920" y="3291840"/>
            <a:ext cx="3950208" cy="1554480"/>
          </a:xfrm>
          <a:prstGeom prst="roundRect">
            <a:avLst>
              <a:gd name="adj" fmla="val 4118"/>
            </a:avLst>
          </a:prstGeom>
          <a:solidFill>
            <a:srgbClr val="1B1F3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31520" y="3401568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= """Before any tool call, state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reasoning in one short sentence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(it will appear as message content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alongside your tool_calls)."""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assistant msg: content = the thought,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        tool_calls = the action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690872" y="1371600"/>
            <a:ext cx="3950208" cy="1060704"/>
          </a:xfrm>
          <a:prstGeom prst="roundRect">
            <a:avLst>
              <a:gd name="adj" fmla="val 5172"/>
            </a:avLst>
          </a:prstGeom>
          <a:solidFill>
            <a:srgbClr val="E5F4F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892040" y="145389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Better tool choice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892040" y="1792224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verbalised reasoning conditions the action tokens — the model literally talks itself into the right tool (W1D2's step-by-step, agent edition)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690872" y="2560320"/>
            <a:ext cx="3950208" cy="1060704"/>
          </a:xfrm>
          <a:prstGeom prst="roundRect">
            <a:avLst>
              <a:gd name="adj" fmla="val 5172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892040" y="264261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Debuggable traces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892040" y="2980944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'Thought: cheapest → need all prices first' — you can see WHY it acted; Friday's project grades this trace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690872" y="3749040"/>
            <a:ext cx="3950208" cy="1060704"/>
          </a:xfrm>
          <a:prstGeom prst="roundRect">
            <a:avLst>
              <a:gd name="adj" fmla="val 5172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892040" y="383133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name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4892040" y="4169664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= Reason + Act (the 2022 paper that started agent engineering). Day 1's loop was ReAct with silent reasoning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— three layers, all familiar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960120"/>
          </a:xfrm>
          <a:prstGeom prst="roundRect">
            <a:avLst>
              <a:gd name="adj" fmla="val 6667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00200"/>
            <a:ext cx="502920" cy="50292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559" y="173095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4630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memory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3429000" y="14630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msgs ledger inside ONE run — tool results accumulate until DONE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812280" y="146304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1's transcript, now structured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02920" y="2450592"/>
            <a:ext cx="8138160" cy="960120"/>
          </a:xfrm>
          <a:prstGeom prst="roundRect">
            <a:avLst>
              <a:gd name="adj" fmla="val 6667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85800" y="2679192"/>
            <a:ext cx="502920" cy="50292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59" y="2809951"/>
            <a:ext cx="241402" cy="2414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17320" y="2542032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Conversation memory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429000" y="2542032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ledger BETWEEN .say() calls — 'and the 2L one?' resolves 'the' from last turn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812280" y="2542032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W1D3's history, agent edition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502920" y="3529584"/>
            <a:ext cx="8138160" cy="960120"/>
          </a:xfrm>
          <a:prstGeom prst="roundRect">
            <a:avLst>
              <a:gd name="adj" fmla="val 6667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85800" y="3758184"/>
            <a:ext cx="502920" cy="50292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59" y="3888943"/>
            <a:ext cx="241402" cy="24140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17320" y="3621024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trim discipline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3429000" y="3621024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ledgers grow FAST (every tool result is tokens); keep system + last N exchanges, never trim mid tool-call pair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6812280" y="3621024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W1D4's sliding window returns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502920" y="475488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C05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NEW rule: a tool_calls message and its role:"tool" replies are a UNIT — trim both or neither, or the API errors.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LangChain, read as an X-ray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4206240" cy="3108960"/>
          </a:xfrm>
          <a:prstGeom prst="roundRect">
            <a:avLst>
              <a:gd name="adj" fmla="val 2059"/>
            </a:avLst>
          </a:prstGeom>
          <a:solidFill>
            <a:srgbClr val="1B1F3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463040"/>
            <a:ext cx="3749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langchain_core.tools import tool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langchain_openai import ChatOpenAI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@tool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check_inventory(product_id: str) -&gt; str: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"""Units in stock for a catalog ID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like P-101."""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str(STOCK.get(product_id, 0))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 = ChatOpenAI(model="gpt-4o-mini")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agent_llm = llm.bind_tools(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[check_inventory, get_price])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= agent_llm.invoke(msgs)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ai.tool_calls   # parsed, ready to dispatch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983480" y="1325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abstraction, decoded: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983480" y="1691640"/>
            <a:ext cx="3657600" cy="621792"/>
          </a:xfrm>
          <a:prstGeom prst="roundRect">
            <a:avLst>
              <a:gd name="adj" fmla="val 8824"/>
            </a:avLst>
          </a:prstGeom>
          <a:solidFill>
            <a:srgbClr val="E5F4F3"/>
          </a:solidFill>
          <a:ln/>
        </p:spPr>
      </p:sp>
      <p:sp>
        <p:nvSpPr>
          <p:cNvPr id="8" name="Text 6"/>
          <p:cNvSpPr/>
          <p:nvPr/>
        </p:nvSpPr>
        <p:spPr>
          <a:xfrm>
            <a:off x="5138928" y="17465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@tool decorator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138928" y="200253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your docstring &amp; type hints → builds slide 4's schema FOR you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983480" y="2404872"/>
            <a:ext cx="3657600" cy="621792"/>
          </a:xfrm>
          <a:prstGeom prst="roundRect">
            <a:avLst>
              <a:gd name="adj" fmla="val 8824"/>
            </a:avLst>
          </a:prstGeom>
          <a:solidFill>
            <a:srgbClr val="EEF3F7"/>
          </a:solidFill>
          <a:ln/>
        </p:spPr>
      </p:sp>
      <p:sp>
        <p:nvSpPr>
          <p:cNvPr id="11" name="Text 9"/>
          <p:cNvSpPr/>
          <p:nvPr/>
        </p:nvSpPr>
        <p:spPr>
          <a:xfrm>
            <a:off x="5138928" y="245973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bind_tools()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138928" y="271576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attaches tools= to every call — your TOOLS_SCHEMA plumbing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983480" y="3118104"/>
            <a:ext cx="3657600" cy="621792"/>
          </a:xfrm>
          <a:prstGeom prst="roundRect">
            <a:avLst>
              <a:gd name="adj" fmla="val 8824"/>
            </a:avLst>
          </a:prstGeom>
          <a:solidFill>
            <a:srgbClr val="E5F4F3"/>
          </a:solidFill>
          <a:ln/>
        </p:spPr>
      </p:sp>
      <p:sp>
        <p:nvSpPr>
          <p:cNvPr id="14" name="Text 12"/>
          <p:cNvSpPr/>
          <p:nvPr/>
        </p:nvSpPr>
        <p:spPr>
          <a:xfrm>
            <a:off x="5138928" y="31729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.tool_calls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138928" y="34290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parsed objects from slide 5's ledger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983480" y="3831336"/>
            <a:ext cx="3657600" cy="621792"/>
          </a:xfrm>
          <a:prstGeom prst="roundRect">
            <a:avLst>
              <a:gd name="adj" fmla="val 8824"/>
            </a:avLst>
          </a:prstGeom>
          <a:solidFill>
            <a:srgbClr val="EEF3F7"/>
          </a:solidFill>
          <a:ln/>
        </p:spPr>
      </p:sp>
      <p:sp>
        <p:nvSpPr>
          <p:cNvPr id="17" name="Text 15"/>
          <p:cNvSpPr/>
          <p:nvPr/>
        </p:nvSpPr>
        <p:spPr>
          <a:xfrm>
            <a:off x="5138928" y="38862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AgentExecutor / LangGraph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138928" y="414223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packaged while-loop — Day 1's 15 lines with knobs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02920" y="4572000"/>
            <a:ext cx="8138160" cy="457200"/>
          </a:xfrm>
          <a:prstGeom prst="roundRect">
            <a:avLst>
              <a:gd name="adj" fmla="val 14000"/>
            </a:avLst>
          </a:prstGeom>
          <a:solidFill>
            <a:srgbClr val="E5F4F3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572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docstring became the schema. </a:t>
            </a:r>
            <a:pPr indent="0" marL="0">
              <a:buNone/>
            </a:pPr>
            <a:r>
              <a:rPr lang="en-US" sz="11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1's 'docstrings are prompts' wasn't a metaphor — it's literally how frameworks work.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JUDGMENT CALL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to use the framework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50208" cy="3017520"/>
          </a:xfrm>
          <a:prstGeom prst="roundRect">
            <a:avLst>
              <a:gd name="adj" fmla="val 2121"/>
            </a:avLst>
          </a:prstGeom>
          <a:solidFill>
            <a:srgbClr val="E5F4F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361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Reach for LangChain when…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1520" y="1938528"/>
            <a:ext cx="34747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you need many integrations fast — retrievers, loaders, vector stores, providers, all pre-wired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team already uses it — shared vocabulary beats elegance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you're prototyping — speed to first demo matters more than control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you graduate to LangGraph for stateful, branching multi-agent graphs (tomorrow's topic, incidentally)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90872" y="1371600"/>
            <a:ext cx="3950208" cy="3017520"/>
          </a:xfrm>
          <a:prstGeom prst="roundRect">
            <a:avLst>
              <a:gd name="adj" fmla="val 2121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19472" y="15361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 raw when…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919472" y="1938528"/>
            <a:ext cx="34747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loop is your product's core — you want every line inspectable (many prod teams run raw loops!)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debugging matters — stack traces through 6 abstraction layers hurt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dependencies churn — LangChain's API has moved fast; pin versions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it's an interview — 'I can build it raw AND read the framework' is the strongest position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452628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Friday's project accepts either — raw or framework — graded on the same acceptance tests.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KNOBS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flags that harden the loop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777240"/>
          </a:xfrm>
          <a:prstGeom prst="roundRect">
            <a:avLst>
              <a:gd name="adj" fmla="val 8235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3716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tool_choice="required"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200400" y="13716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a tool call (or names ONE tool) — no freelancing on critical steps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0" y="13716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steps, mandatory lookups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02920" y="2249424"/>
            <a:ext cx="8138160" cy="777240"/>
          </a:xfrm>
          <a:prstGeom prst="roundRect">
            <a:avLst>
              <a:gd name="adj" fmla="val 8235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2249424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"strict": true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00400" y="2249424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enforced exactly — args guaranteed to match types &amp; required fields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83680" y="2249424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tool whose args must parse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3127248"/>
            <a:ext cx="8138160" cy="777240"/>
          </a:xfrm>
          <a:prstGeom prst="roundRect">
            <a:avLst>
              <a:gd name="adj" fmla="val 8235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3127248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parallel_tool_calls=False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00400" y="3127248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tool at a time when order matters (write-then-read sequences)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0" y="3127248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with side effects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4005072"/>
            <a:ext cx="8138160" cy="777240"/>
          </a:xfrm>
          <a:prstGeom prst="roundRect">
            <a:avLst>
              <a:gd name="adj" fmla="val 8235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4005072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timeout + max_steps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200400" y="4005072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1's seatbelts, unchanged — no API removes the need for them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3680" y="4005072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agent, always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" y="477316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4's guardrails module builds on exactly these flags — today you meet them, Friday you use them, next week you systematise them.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 IS COMING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AgentV0 → AgentV1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886200" cy="1371600"/>
          </a:xfrm>
          <a:prstGeom prst="roundRect">
            <a:avLst>
              <a:gd name="adj" fmla="val 4667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3619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AgentV0 (Day 1)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Hand-rolled JSON, single tool per turn, silent reasoning, no cross-turn memory.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926080"/>
            <a:ext cx="3886200" cy="1554480"/>
          </a:xfrm>
          <a:prstGeom prst="roundRect">
            <a:avLst>
              <a:gd name="adj" fmla="val 4118"/>
            </a:avLst>
          </a:prstGeom>
          <a:solidFill>
            <a:srgbClr val="1B1F3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309067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AgentV1 (today)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42900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tool_calls · parallel execution · ReAct thoughts in the trace · conversation memory with safe trimming · production flags.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663440" y="137160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practical goals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663440" y="1810512"/>
            <a:ext cx="3977640" cy="457200"/>
          </a:xfrm>
          <a:prstGeom prst="roundRect">
            <a:avLst>
              <a:gd name="adj" fmla="val 12000"/>
            </a:avLst>
          </a:prstGeom>
          <a:solidFill>
            <a:srgbClr val="E5F4F3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8032" y="1911096"/>
            <a:ext cx="256032" cy="25603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193792" y="181051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Day 1's four tools to schemas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663440" y="2340864"/>
            <a:ext cx="3977640" cy="457200"/>
          </a:xfrm>
          <a:prstGeom prst="roundRect">
            <a:avLst>
              <a:gd name="adj" fmla="val 12000"/>
            </a:avLst>
          </a:prstGeom>
          <a:solidFill>
            <a:srgbClr val="E5F4F3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193792" y="234086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one ledger round trip, raw objects printed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663440" y="2871216"/>
            <a:ext cx="3977640" cy="457200"/>
          </a:xfrm>
          <a:prstGeom prst="roundRect">
            <a:avLst>
              <a:gd name="adj" fmla="val 12000"/>
            </a:avLst>
          </a:prstGeom>
          <a:solidFill>
            <a:srgbClr val="E5F4F3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2971800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93792" y="287121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Parallel: two prices fetched in ONE turn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663440" y="3401568"/>
            <a:ext cx="3977640" cy="457200"/>
          </a:xfrm>
          <a:prstGeom prst="roundRect">
            <a:avLst>
              <a:gd name="adj" fmla="val 12000"/>
            </a:avLst>
          </a:prstGeom>
          <a:solidFill>
            <a:srgbClr val="E5F4F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3502152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193792" y="340156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thoughts visible in every trace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4663440" y="3931920"/>
            <a:ext cx="3977640" cy="457200"/>
          </a:xfrm>
          <a:prstGeom prst="roundRect">
            <a:avLst>
              <a:gd name="adj" fmla="val 12000"/>
            </a:avLst>
          </a:prstGeom>
          <a:solidFill>
            <a:srgbClr val="E5F4F3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032" y="4032504"/>
            <a:ext cx="256032" cy="25603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193792" y="39319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Memory: follow-up questions resolve across turns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30 MINUTES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Practical: rebuild it native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8138160" cy="841248"/>
          </a:xfrm>
          <a:prstGeom prst="roundRect">
            <a:avLst>
              <a:gd name="adj" fmla="val 7609"/>
            </a:avLst>
          </a:prstGeom>
          <a:solidFill>
            <a:srgbClr val="2A3060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636776"/>
            <a:ext cx="502920" cy="502920"/>
          </a:xfrm>
          <a:prstGeom prst="ellipse">
            <a:avLst/>
          </a:prstGeom>
          <a:solidFill>
            <a:srgbClr val="3A417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991" y="1767535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536192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Schemas &amp; the ledger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160520" y="1536192"/>
            <a:ext cx="4297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the tools, run ONE round trip, print the raw tool_calls object and the 4-row ledger.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2920" y="2468880"/>
            <a:ext cx="8138160" cy="841248"/>
          </a:xfrm>
          <a:prstGeom prst="roundRect">
            <a:avLst>
              <a:gd name="adj" fmla="val 7609"/>
            </a:avLst>
          </a:prstGeom>
          <a:solidFill>
            <a:srgbClr val="2A3060"/>
          </a:solidFill>
          <a:ln/>
        </p:spPr>
      </p:sp>
      <p:sp>
        <p:nvSpPr>
          <p:cNvPr id="10" name="Shape 7"/>
          <p:cNvSpPr/>
          <p:nvPr/>
        </p:nvSpPr>
        <p:spPr>
          <a:xfrm>
            <a:off x="713232" y="2642616"/>
            <a:ext cx="502920" cy="502920"/>
          </a:xfrm>
          <a:prstGeom prst="ellipse">
            <a:avLst/>
          </a:prstGeom>
          <a:solidFill>
            <a:srgbClr val="3A417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91" y="2773375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542032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Loop · parallel · ReAct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160520" y="2542032"/>
            <a:ext cx="4297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native loop; a 2-tools-in-1-turn demo; thoughts appearing in the trace.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02920" y="3474720"/>
            <a:ext cx="8138160" cy="841248"/>
          </a:xfrm>
          <a:prstGeom prst="roundRect">
            <a:avLst>
              <a:gd name="adj" fmla="val 7609"/>
            </a:avLst>
          </a:prstGeom>
          <a:solidFill>
            <a:srgbClr val="2A3060"/>
          </a:solidFill>
          <a:ln/>
        </p:spPr>
      </p:sp>
      <p:sp>
        <p:nvSpPr>
          <p:cNvPr id="15" name="Shape 11"/>
          <p:cNvSpPr/>
          <p:nvPr/>
        </p:nvSpPr>
        <p:spPr>
          <a:xfrm>
            <a:off x="713232" y="3648456"/>
            <a:ext cx="502920" cy="502920"/>
          </a:xfrm>
          <a:prstGeom prst="ellipse">
            <a:avLst/>
          </a:prstGeom>
          <a:solidFill>
            <a:srgbClr val="3A417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91" y="3779215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547872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&amp; the X-ray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4160520" y="3547872"/>
            <a:ext cx="4297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AgentV1 with cross-turn memory + safe trimming — then the same tools in LangChain, decoded line by line.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502920" y="452628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leave with AgentV1 — and the ability to read any agent framework's docs without fear.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ideas to keep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50208" cy="1207008"/>
          </a:xfrm>
          <a:prstGeom prst="roundRect">
            <a:avLst>
              <a:gd name="adj" fmla="val 530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73352"/>
            <a:ext cx="566928" cy="56692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733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554480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Objects, not prose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1965960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tool_calls arrive parsed &amp; validated — the API hardened every joint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90872" y="1371600"/>
            <a:ext cx="3950208" cy="1207008"/>
          </a:xfrm>
          <a:prstGeom prst="roundRect">
            <a:avLst>
              <a:gd name="adj" fmla="val 530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73752" y="1673352"/>
            <a:ext cx="566928" cy="56692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1" name="Text 9"/>
          <p:cNvSpPr/>
          <p:nvPr/>
        </p:nvSpPr>
        <p:spPr>
          <a:xfrm>
            <a:off x="4873752" y="16733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605272" y="1554480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ledger grew 2 rows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05272" y="1965960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assistant+tool_calls and role:tool — otherwise it's W1D3's list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2816352"/>
            <a:ext cx="3950208" cy="1207008"/>
          </a:xfrm>
          <a:prstGeom prst="roundRect">
            <a:avLst>
              <a:gd name="adj" fmla="val 530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3118104"/>
            <a:ext cx="566928" cy="56692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11810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17320" y="2999232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Thoughts are features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17320" y="341071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traces improve choices AND give you something to debug/grade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90872" y="2816352"/>
            <a:ext cx="3950208" cy="1207008"/>
          </a:xfrm>
          <a:prstGeom prst="roundRect">
            <a:avLst>
              <a:gd name="adj" fmla="val 530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73752" y="3118104"/>
            <a:ext cx="566928" cy="56692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21" name="Text 19"/>
          <p:cNvSpPr/>
          <p:nvPr/>
        </p:nvSpPr>
        <p:spPr>
          <a:xfrm>
            <a:off x="4873752" y="311810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605272" y="2999232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Frameworks are X-rayable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605272" y="341071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@tool = your docstring → schema; Executor = your 15-line loop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" y="425196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— Module 4: </a:t>
            </a:r>
            <a:pPr indent="0" marL="0">
              <a:buNone/>
            </a:pPr>
            <a:r>
              <a:rPr lang="en-US" sz="12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— the USB port for tools — and multi-agent systems, both with full system interaction diagrams. Your agent learns to use OTHER PEOPLE'S tools, and to talk to other agents.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3 Module 3 — The Loop, Done Properly</dc:title>
  <dc:subject>PptxGenJS Presentation</dc:subject>
  <dc:creator>PMS RoBoTics Research Center</dc:creator>
  <cp:lastModifiedBy>PMS RoBoTics Research Center</cp:lastModifiedBy>
  <cp:revision>1</cp:revision>
  <dcterms:created xsi:type="dcterms:W3CDTF">2026-07-22T05:11:38Z</dcterms:created>
  <dcterms:modified xsi:type="dcterms:W3CDTF">2026-07-22T05:11:38Z</dcterms:modified>
</cp:coreProperties>
</file>
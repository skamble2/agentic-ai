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 opens. New teaching style this week per plan: code-first, minimal theory, diagrams for every mechanism. Today: build an agent from the smallest possible pieces — by hand, no frameworks — so the magic is gone before LangChain arrives (Day 3) and MCP (Day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map — bottom-up ladder: atoms today (hand-rolled), workflow patterns Day 2, real agent loop + LangChain Day 3, MCP + multi-agent with full system interaction diagrams Day 4, graded agent project Day 5. Style: code-first, diagram-supported.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 as a diagram, not a paragraph: chatbot = one pass (text in, text out, end). Agent = LLM + tools + loop; tool results feed back until done. Everything this week is engineering around that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0: plain call fails at real-time inventory — the model has no hands. But structured text out + our code executing = the seed of agency. That reframe drives everything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1: structured output — familiar from W1D2 and W2D4, but reframed: JSON as INTENT. json.loads turns model prose into a dict Python can branch on. Temperature 0 for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2: a tool = Python function + docstring. Body executes for Python; docstring is the LLM-facing interface (prompt engineering!). Registry = a dict. Demystify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3: the decision prompt — tool list + two allowed outputs (tool request JSON or final answer). Model WRITES the request; our code executes. This IS function calling, hand-rolled; native API version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diagram — walk it slowly, numbered step by step: customer → app → LLM (decide) → app executes tool → result → LLM (answer) → customer. Two LLM calls per tool round trip. The LLM never touches the DB; the app mediates everything. Same diagram style returns for MCP on Day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 machine: THINK (LLM decides) → ACT (code runs tool) → OBSERVE (append result) → back to THINK; exit to DONE on final answer or max_steps. In the notebook, the trace PRINTS these state names — diagram and code output match 1:1.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15-line agent. Map comments to the state diagram 1:1. Transcript accumulation = memory. The emergent multi-step behaviour is the wow: nobody scripted the tool sequence — the loop discovered it. This exact code runs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hand-roll first: the native tools API (Day 3) is the same machine with API-guaranteed structure and trained reliability — LangChain sits on top of it. Owning the raw version kills the magic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failure modes with one-line defenses: max_steps, JSON retry-via-observation, unknown-tool check, tool try/except. Unifying pattern: errors become observations — the loop self-heals. All implemented in the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Practical: the ladder in code. Components 0-2, one round trip (mirrors slide 8), then the loop with live state trace + the 4 break/defend exercises. No frameworks anywhere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Recap; tomorrow = workflow patterns (the controlled middle ground), all in code. Homework: add a tool, break the loop, trace a 3-step run on paper against the state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Chatbot to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pieces first: one call → one tool → one loop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 · MODULE 01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TOOLS, MEMORY, REASONING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46520" y="3977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3977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CODE-FIRST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325880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atoms: structured output · tools · the loop — hand-rolled, no frameworks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9280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1892808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patterns: chaining · routing · parallel · orchestrator (all in code)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45973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459736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agent loop: native function calling · ReAct · memory · LangChain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2666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2666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026664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multi-agent: system interaction diagrams, agents talking to agents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9359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9359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3593592"/>
            <a:ext cx="6858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SmartMart agent — inventory · orders · pricing (graded)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97680"/>
            <a:ext cx="8138160" cy="594360"/>
          </a:xfrm>
          <a:prstGeom prst="roundRect">
            <a:avLst>
              <a:gd name="adj" fmla="val 10769"/>
            </a:avLst>
          </a:prstGeom>
          <a:solidFill>
            <a:srgbClr val="E5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style: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lecture, more code. Every mechanism gets a diagram; every diagram gets working code within minutes.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AS A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Chatbot: a line. Agent: a loop.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RAGBot (Weeks 1–2)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83664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40280" y="169164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40280" y="16916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836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977640" y="169164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977640" y="16916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out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→ text out → END. One pass. It can only ever produce words.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(this week)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" y="324612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2920" y="3246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438144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2240280" y="324612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2240280" y="3246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438144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977640" y="3246120"/>
            <a:ext cx="1188720" cy="640080"/>
          </a:xfrm>
          <a:prstGeom prst="roundRect">
            <a:avLst>
              <a:gd name="adj" fmla="val 10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3977640" y="32461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834640" y="4069080"/>
            <a:ext cx="173736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572000" y="3886200"/>
            <a:ext cx="0" cy="18288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2834640" y="3886200"/>
            <a:ext cx="0" cy="18288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155448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loop back — again and again — until the job is DONE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623560" y="1691640"/>
            <a:ext cx="3017520" cy="2743200"/>
          </a:xfrm>
          <a:prstGeom prst="roundRect">
            <a:avLst>
              <a:gd name="adj" fmla="val 2333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8521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week in one line: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852160" y="2377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tools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a loop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85216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Everything else is engineering around this.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call can only talk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2011680"/>
          </a:xfrm>
          <a:prstGeom prst="roundRect">
            <a:avLst>
              <a:gd name="adj" fmla="val 318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client.chat.completions.create(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"Is the Prima kettle in stock RIGHT NOW?"}])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"I don't have access to real-time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inventory data..."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2011680"/>
          </a:xfrm>
          <a:prstGeom prst="roundRect">
            <a:avLst>
              <a:gd name="adj" fmla="val 3182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0" y="155448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145" y="1661465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failure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52160" y="2057400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hands. It cannot query a database, hit an API, or check a clock. Text in, text out — that's the entire interface.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61188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6118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 — text out is not nothing.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text is STRUCTURED, our code can read it and act on the model's behalf. That one idea — the model writes, our code executes — is the seed of every agent ever built.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 — text becomes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"""Extract the customer's request.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JSON: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{"product": "...", "wants": "price"|"stock"}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Message: "how much is the 750W mixer?" 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ask(prompt, temperature=0)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json.loads(r)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{"product": "SwiftMix Mixer Grinder 750W",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"wants": "price"}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data["wants"]        # → "price"  ← REAL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data["product"]      # → usable in real code!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447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done this twice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17739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W1D2's JSON extractor and W2D4's judges — same move. Today it gains a new job: expressing INTENT.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2316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496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json.loads is the bridge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8254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prose becomes a dict, Python can branch on it: if wants == 'stock': ...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47472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547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38770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must be repeatable — Day 4 W1 recipe, non-negotiable for agents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is just a function with a description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check_inventory(product_id: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"""How many units of a product are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 right now. Args: product_id like P-101"""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str(INVENTORY.get(product_id, 0))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"check_inventory": check_inventory,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"get_price":       get_price,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"track_order":     track_order,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 → function. A dict. That's the registry.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447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audiences, one function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17739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runs for Python; the DOCSTRING is read by the LLM to decide when to use 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2316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496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docstring IS the interface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8254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docstring → wrong tool calls. Writing tool descriptions is prompt engineering (W1D2 lives on)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47472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547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magic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38770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query, API call, calculator, email sender — if Python can do it, it can be a tool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chooses a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937760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36192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 = """You can use these tools: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{tool_descriptions}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use one, return ONLY: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{"tool": "&lt;name&gt;", "args": {...}}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can answer already, return ONLY: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{"answer": "&lt;final answer&gt;"}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{question}"""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json.loads(ask(DECIDE, temperature=0))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"tool" in 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TOOLS[d["tool"]](**d["args"])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23560" y="137160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4447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executes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177393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WRITES a request. YOUR code looks up the function and calls it. Separation = safety.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623560" y="242316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24963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possible outputs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8254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request OR a final answer — this binary choice is the atom of agency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23560" y="3474720"/>
            <a:ext cx="3017520" cy="932688"/>
          </a:xfrm>
          <a:prstGeom prst="roundRect">
            <a:avLst>
              <a:gd name="adj" fmla="val 5882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35478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'function calling'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6440" y="387705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offer a native, more reliable version (Day 3) — today we build it raw so it's never magic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INTERACTION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 call,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" y="13258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0" cy="292608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286000" y="13258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783080"/>
            <a:ext cx="0" cy="292608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0" y="13258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0" cy="292608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766560" y="13258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325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(DB)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783080"/>
            <a:ext cx="0" cy="2926080"/>
          </a:xfrm>
          <a:prstGeom prst="line">
            <a:avLst/>
          </a:prstGeom>
          <a:noFill/>
          <a:ln w="12700">
            <a:solidFill>
              <a:srgbClr val="B9C2D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2057400"/>
            <a:ext cx="214884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88" y="19568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17647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“is P-101 in stock?”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926080" y="2414016"/>
            <a:ext cx="228600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13432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06324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question + tool list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926080" y="2770632"/>
            <a:ext cx="228600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889504" y="267004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063240" y="2478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{"tool":"check_inventory", "args":{...}}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2926080" y="3127248"/>
            <a:ext cx="448056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3026664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06324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check_inventory("P-101")  ← code runs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926080" y="3483864"/>
            <a:ext cx="448056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889504" y="338328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063240" y="3191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"42"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2926080" y="3840480"/>
            <a:ext cx="228600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73989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063240" y="3547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observation: 42 → answer?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2926080" y="4197096"/>
            <a:ext cx="228600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889504" y="4096512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063240" y="3904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· {"answer": "Yes! 42 in stock."}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777240" y="4553712"/>
            <a:ext cx="2148840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740664" y="4453128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14400" y="42611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“Yes! 42 units in stock.”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502920" y="48280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2–3 and 6–7 are LLM calls. Step 4 is plain Python. The LLM never touches the database — your app is always in the middle.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loop has exactly four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88720" y="2103120"/>
            <a:ext cx="1463040" cy="914400"/>
          </a:xfrm>
          <a:prstGeom prst="ellipse">
            <a:avLst/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 answer?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931920" y="2103120"/>
            <a:ext cx="1463040" cy="914400"/>
          </a:xfrm>
          <a:prstGeom prst="ellipse">
            <a:avLst/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chosen tool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75120" y="2103120"/>
            <a:ext cx="1463040" cy="914400"/>
          </a:xfrm>
          <a:prstGeom prst="ellipse">
            <a:avLst/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1031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appended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transcript</a:t>
            </a:r>
            <a:endParaRPr lang="en-US" sz="9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2432304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65176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chosen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4323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920240" y="3794760"/>
            <a:ext cx="548640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7406640" y="3063240"/>
            <a:ext cx="0" cy="73152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1920240" y="3063240"/>
            <a:ext cx="0" cy="73152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237744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back to THINK with one more observation in hand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417320" y="4251960"/>
            <a:ext cx="1051560" cy="566928"/>
          </a:xfrm>
          <a:prstGeom prst="ellipse">
            <a:avLst/>
          </a:prstGeom>
          <a:solidFill>
            <a:srgbClr val="3E8E5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417320" y="42519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606040" y="4389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THINK exits here when it returns {"answer": ...} — or when max_steps hits (slide 12)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agent: ~15 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4754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agent(question, max_steps=5):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transcript = question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step in range(max_steps):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THINK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 = json.loads(ask(DECIDE.format(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tool_descriptions=TOOL_DESCS,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question=transcript), temperature=0))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"answer" in 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d["answer"]            #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TOOLS[d["tool"]](**d["args"])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OBSERVE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transcript += (f'\n[used {d["tool"]}'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f'({d["args"]}) → {result}]')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"Stopped: step limit reached."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897880" y="1325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53328" y="1399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states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53328" y="1728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/ ACT / OBSERVE / DONE — the comments ARE slide 9's diagram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97880" y="2468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3328" y="2542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transcript grows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2871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the model re-reads everything so far — memory by accumulation (W1D3's trick again)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3611880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53328" y="3685032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for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401421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the cheapest kettle in stock?' → get_price ×N → check_inventory → answer. Nobody planned that sequence. The loop found it.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 DAY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Hand-rolled vs native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Hand-rolled (today)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described in the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returns JSON as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json.loads + dispatch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zero magic, you own every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JSON can be malformed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tool choice less reliable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function calling (Day 3)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9202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tools=[{schema}] in the API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returns tool_calls OBJECTS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guarantees valid structure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trained-in reliability, parallel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what LangChain uses underneath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looks like magic if you skip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429768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THINK/ACT/OBSERVE machine either way. </a:t>
            </a:r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 raw once, and no framework will ever be a black box again.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it breaks — four one-line defenses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1604223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 loop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971800" y="13258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keeps calling tools, never answers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40680" y="1325880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— the loop's seatbelt (already in our 15 lines)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340864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75" y="2445471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Malformed JSON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71800" y="21671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 crashes mid-THINK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40680" y="216712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→ feed the error BACK as an observation; let it retry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00837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182112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286719"/>
            <a:ext cx="193121" cy="1931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0837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Wrong/unknown tool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2971800" y="30083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tool that doesn't exist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40680" y="3008376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name in TOOLS first; return 'unknown tool' as observation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84962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" y="4023360"/>
            <a:ext cx="402336" cy="402336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4127967"/>
            <a:ext cx="193121" cy="1931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84962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raises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2971800" y="38496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down, bad product ID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40680" y="384962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ACT in try/except — the error text becomes the observation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754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pattern: errors become OBSERVATIONS. The loop that causes the problems also absorbs them.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build the ladder, rung by rung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0–2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0" y="153619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plain call fail · JSON intent · three real tools + the registry dict.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86200" y="254203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prompt — one full round trip, matching slide 8's sequence diagram step by step.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886200" y="354787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lines, trace printing THINK/ACT/OBSERVE live, multi-step task, then break it 4 ways and defend.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leave with an agent you wrote yourself — every line — that plans tool sequences nobody scripted.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to keep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= LLM + tools +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line; everything else is engineering around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1371600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673352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05272" y="15544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writes, code executes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5272" y="1965960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touches the DB — your app mediates every 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→ ACT → OBSERVE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states; the transcript is the memory; DONE on answer or limit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816352"/>
            <a:ext cx="3950208" cy="1207008"/>
          </a:xfrm>
          <a:prstGeom prst="roundRect">
            <a:avLst>
              <a:gd name="adj" fmla="val 530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118104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999232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become observations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05272" y="341071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+ try/except: the loop absorbs its own failures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Module 2: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agents run free, master the CONTROLLED patterns — chaining, routing, parallelization, orchestrator-workers — each one built in code on top of today's atoms.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Module 1 — From Chatbot to Agent</dc:title>
  <dc:subject>PptxGenJS Presentation</dc:subject>
  <dc:creator>PMS RoBoTics Research Center</dc:creator>
  <cp:lastModifiedBy>PMS RoBoTics Research Center</cp:lastModifiedBy>
  <cp:revision>1</cp:revision>
  <dcterms:created xsi:type="dcterms:W3CDTF">2026-07-20T06:18:41Z</dcterms:created>
  <dcterms:modified xsi:type="dcterms:W3CDTF">2026-07-20T06:18:41Z</dcterms:modified>
</cp:coreProperties>
</file>
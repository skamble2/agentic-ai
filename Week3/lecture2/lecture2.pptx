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of Week 3. Yesterday: the free-running loop. Today: the five CONTROLLED shapes — chaining, routing, parallelization, orchestrator-workers, evaluator-optimizer. Each gets a diagram + ~20 lines of code. Core lesson: use the simplest shape that works; agents are the last resort, not the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yesterday's loop varies run to run — power AND risk. Today's rule (industry consensus): simplest shape that works; fixed paths where you know them; loops only where you don't. Sets up the spectrum.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spectrum: one call → chain → routing → parallel → orchestrator → evaluator loop → agent. Left = control (predictable cost/latency); right = flexibility (handles unknown). Workflows = path in YOUR code, LLM fills steps. Agents = path decided by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1: chaining — fixed named steps, one job per call, GATES between steps (plain code checks: word count, json.loads, keyword present). Gate fail → retry or stop. Trade latency for accuracy. The gate being ordinary Python is the insight.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2: routing — cheap deterministic classifier picks a route; each route gets specialized prompt/temperature/model. They already built this (W1M4 two-speed bot). PROMPTS dict mirrors yesterday's TOOLS dict — dispatch is the recurring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3: parallelization. Sectioning = independent subtasks fanned out (3 reviews summarized at once). Voting = same judgment N times, majority wins (reliability from redundancy — W2's flaky-judge fix). ThreadPoolExecutor.map does it in 3 lines. Cost ×N, latency ×1.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4: orchestrator-workers. Orchestrator LLM writes the subtask list (JSON plan) at runtime — dashed boxes = dynamic. Workers execute (some call Day 1's tools — patterns compose). Synthesizer merges. Key contrast with parallel: WHO writes the subtasks. Still bounded: no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Orchestrator code: PLAN (JSON subtask list), EXECUTE (loop over subtasks; tool workers use Day 1's registry; LLM workers get goal+context), SYNTHESIZE. Cost predictable: n+2 calls. Compare with agent: no re-planning after observation — that's the Day 3 upgrade.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5: evaluator-optimizer — generator ⇄ evaluator with concrete feedback, bounded rounds. The evaluator IS W2D4's judge, repurposed from grading to steering. Feedback must be actionable ('too long, cut jargon') not just a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 table — screenshot slide. Note the cost-shape column: every workflow's cost is computable in advance; the agent's is not. Interview line: 'workflow first, and here's which one' signals maturity.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Patterns compose: route → per-route handling (complaint gets a chain) → evaluator gate → send. Worst-case cost computable on paper. Honest industry note: most production 'agents' are exactly this. The practical builds it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Cost/latency table per pattern: chains serial (×steps), routing cheap, parallel trades tokens for time, orchestrator n+2 (priceable after plan), evaluator capped by rounds. The notebook counts calls per pattern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Practical: all five patterns built + composed pipeline with call counter. Parallel uses ThreadPoolExecutor — first concurrency of the course; keep it 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Recap; tomorrow the loop done properly (native function calling, ReAct, memory, LangChain). Homework: classify 5 tasks to patterns, add a route, convert a chain step to parallel.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ROBOTICS RESEARCH CENTER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Patterns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controlled shapes — each one a diagram, each one ~20 lines of code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635240" y="411480"/>
            <a:ext cx="868680" cy="86868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097" y="637337"/>
            <a:ext cx="416966" cy="4169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97764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977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03 · MODULE 02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88920" y="397764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0" name="Text 7"/>
          <p:cNvSpPr/>
          <p:nvPr/>
        </p:nvSpPr>
        <p:spPr>
          <a:xfrm>
            <a:off x="278892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— TOOLS, MEMORY, REASONING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46520" y="39776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2" name="Text 9"/>
          <p:cNvSpPr/>
          <p:nvPr/>
        </p:nvSpPr>
        <p:spPr>
          <a:xfrm>
            <a:off x="6446520" y="3977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· CODE-FIRST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loop: powerful, unpredictable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86200" cy="2606040"/>
          </a:xfrm>
          <a:prstGeom prst="roundRect">
            <a:avLst>
              <a:gd name="adj" fmla="val 2456"/>
            </a:avLst>
          </a:prstGeom>
          <a:solidFill>
            <a:srgbClr val="F7E6E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Yesterday's confession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429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the same multi-step task twice: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different tool orders, different step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counts, occasionally a wasted call.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loop DECIDES its own path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that's its power AND its risk.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 path = unknown cost,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latency, and failure modes.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5F4F3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371600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577840" y="137160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atoms: tools + the loop, hand-rolled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938528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93852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77840" y="1938528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patterns — five controlled shapes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505456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505456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577840" y="2505456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function calling · ReAct · LangChain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72384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072384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577840" y="3072384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multi-agent (system diagrams)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639312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639312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577840" y="3639312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Mini-project: the SmartMart agent (graded)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2062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rule, worth the whole hour: use the SIMPLEST shape that solves the task. The agent loop is the last resort — not the first.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 ↔ flexibility spectrum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8288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48056" y="269748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</a:t>
            </a:r>
            <a:endParaRPr lang="en-US" sz="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2130552"/>
            <a:ext cx="146304" cy="1463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91640" y="182880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691640" y="18288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636776" y="269748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steps,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order</a:t>
            </a:r>
            <a:endParaRPr lang="en-US" sz="7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2130552"/>
            <a:ext cx="146304" cy="1463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80360" y="182880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880360" y="18288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2825496" y="269748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7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488" y="2130552"/>
            <a:ext cx="146304" cy="14630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069080" y="182880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4069080" y="18288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014216" y="269748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subtasks</a:t>
            </a:r>
            <a:endParaRPr lang="en-US" sz="7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2130552"/>
            <a:ext cx="146304" cy="14630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257800" y="182880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D9E2F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5257800" y="18288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5202936" y="269748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subtasks decided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runtime</a:t>
            </a:r>
            <a:endParaRPr lang="en-US" sz="7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2130552"/>
            <a:ext cx="146304" cy="146304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446520" y="182880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D9E2F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6446520" y="18288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loop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6391656" y="269748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gate,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retry</a:t>
            </a:r>
            <a:endParaRPr lang="en-US" sz="7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0648" y="2130552"/>
            <a:ext cx="146304" cy="14630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635240" y="182880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Text 21"/>
          <p:cNvSpPr/>
          <p:nvPr/>
        </p:nvSpPr>
        <p:spPr>
          <a:xfrm>
            <a:off x="7635240" y="18288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7580376" y="269748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unknown —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 all</a:t>
            </a:r>
            <a:endParaRPr lang="en-US" sz="750" dirty="0"/>
          </a:p>
        </p:txBody>
      </p:sp>
      <p:sp>
        <p:nvSpPr>
          <p:cNvPr id="31" name="Text 23"/>
          <p:cNvSpPr/>
          <p:nvPr/>
        </p:nvSpPr>
        <p:spPr>
          <a:xfrm>
            <a:off x="502920" y="3429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more CONTROL: predictable cost, latency, behaviour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5120640" y="34290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FLEXIBILITY: handles the unknown →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502920" y="3931920"/>
            <a:ext cx="8138160" cy="777240"/>
          </a:xfrm>
          <a:prstGeom prst="roundRect">
            <a:avLst>
              <a:gd name="adj" fmla="val 8235"/>
            </a:avLst>
          </a:prstGeom>
          <a:solidFill>
            <a:srgbClr val="E5F4F3"/>
          </a:solidFill>
          <a:ln/>
        </p:spPr>
      </p:sp>
      <p:sp>
        <p:nvSpPr>
          <p:cNvPr id="34" name="Text 26"/>
          <p:cNvSpPr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left of 'Agent' is a WORKFLOW: </a:t>
            </a:r>
            <a:pPr indent="0" marL="0">
              <a:buNone/>
            </a:pPr>
            <a:r>
              <a:rPr lang="en-US" sz="12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is written in YOUR code; the LLM fills in steps. Today you build all five workflow shapes — and earn the right to know when the seventh is worth its chaos.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chaining — steps + gates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55448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810512"/>
            <a:ext cx="256032" cy="256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94560" y="155448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194560" y="155448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810512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886200" y="1673352"/>
            <a:ext cx="548640" cy="548640"/>
          </a:xfrm>
          <a:prstGeom prst="ellipse">
            <a:avLst/>
          </a:prstGeom>
          <a:solidFill>
            <a:srgbClr val="F4B86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886200" y="16733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3657600" y="23042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45 words?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not LLM</a:t>
            </a:r>
            <a:endParaRPr lang="en-US" sz="7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810512"/>
            <a:ext cx="256032" cy="2560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892040" y="155448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4892040" y="155448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810512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583680" y="155448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6583680" y="155448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160520" y="1673352"/>
            <a:ext cx="0" cy="-320040"/>
          </a:xfrm>
          <a:prstGeom prst="line">
            <a:avLst/>
          </a:prstGeom>
          <a:noFill/>
          <a:ln w="19050">
            <a:solidFill>
              <a:srgbClr val="C0564A"/>
            </a:solidFill>
            <a:prstDash val="dash"/>
          </a:ln>
        </p:spPr>
      </p:sp>
      <p:sp>
        <p:nvSpPr>
          <p:cNvPr id="20" name="Text 14"/>
          <p:cNvSpPr/>
          <p:nvPr/>
        </p:nvSpPr>
        <p:spPr>
          <a:xfrm>
            <a:off x="3246120" y="10789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retry step 2 (or stop)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502920" y="2880360"/>
            <a:ext cx="3950208" cy="192024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73152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when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31520" y="33832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decomposes into FIXED steps you can name in advance. Each LLM call does ONE simple thing well — easier prompts, easier debugging, and a place to put checks between steps.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690872" y="2880360"/>
            <a:ext cx="3950208" cy="1920240"/>
          </a:xfrm>
          <a:prstGeom prst="roundRect">
            <a:avLst>
              <a:gd name="adj" fmla="val 3333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4919472" y="306324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specs = ask(EXTRACT.format(p=raw))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 = ask(DRAFT.format(specs=specs))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len(draft.split()) &gt; 45:      # GATE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draft = ask(DRAFT_RETRY...)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ask(POLISH.format(d=draft))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— classify once, specialize after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1097280" cy="68580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0116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21992"/>
            <a:ext cx="256032" cy="256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57400" y="201168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057400" y="20116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 0)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2350008"/>
            <a:ext cx="548640" cy="-795528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94760" y="123444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794760" y="1234440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→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prompt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46120" y="2350008"/>
            <a:ext cx="548640" cy="-18288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94760" y="201168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794760" y="2011680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→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prompt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46120" y="2350008"/>
            <a:ext cx="548640" cy="758952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794760" y="278892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794760" y="2788920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→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prompt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577840" y="18745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route: its own system prompt, its own temperature, even its own MODEL (mini for FAQs, big for complaints)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" y="3703320"/>
            <a:ext cx="3950208" cy="1143000"/>
          </a:xfrm>
          <a:prstGeom prst="roundRect">
            <a:avLst>
              <a:gd name="adj" fmla="val 56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31520" y="370332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</a:t>
            </a:r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fall into known CATEGORIES needing different handling. You built this in W1M4 — the two-speed bot was routing!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690872" y="3703320"/>
            <a:ext cx="3950208" cy="1143000"/>
          </a:xfrm>
          <a:prstGeom prst="roundRect">
            <a:avLst>
              <a:gd name="adj" fmla="val 56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919472" y="38404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= ask(CLASSIFY.format(m=msg))  # 1 word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 = ask(PROMPTS[route].format(m=msg))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^^^^^^^^^^^^^^ a dict again!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Parallelization — fan out, fan 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A — sectioning (split the WORK)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4592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71600" y="1920240"/>
            <a:ext cx="502920" cy="0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164592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74520" y="164592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34640" y="1920240"/>
            <a:ext cx="502920" cy="548640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1920240"/>
            <a:ext cx="502920" cy="640080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74520" y="228600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74520" y="228600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34640" y="2560320"/>
            <a:ext cx="502920" cy="-91440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1920240"/>
            <a:ext cx="502920" cy="1280160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292608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74520" y="292608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34640" y="3200400"/>
            <a:ext cx="502920" cy="-731520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2194560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37560" y="219456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12984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B — voting (repeat the SAME work)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645920"/>
            <a:ext cx="868680" cy="640080"/>
          </a:xfrm>
          <a:prstGeom prst="roundRect">
            <a:avLst>
              <a:gd name="adj" fmla="val 857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1645920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angry?”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32120" y="1965960"/>
            <a:ext cx="502920" cy="-45720"/>
          </a:xfrm>
          <a:prstGeom prst="line">
            <a:avLst/>
          </a:prstGeom>
          <a:noFill/>
          <a:ln w="15875">
            <a:solidFill>
              <a:srgbClr val="7A6F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164592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DE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164592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03720" y="1920240"/>
            <a:ext cx="502920" cy="548640"/>
          </a:xfrm>
          <a:prstGeom prst="line">
            <a:avLst/>
          </a:prstGeom>
          <a:noFill/>
          <a:ln w="15875">
            <a:solidFill>
              <a:srgbClr val="7A6F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32120" y="1965960"/>
            <a:ext cx="502920" cy="594360"/>
          </a:xfrm>
          <a:prstGeom prst="line">
            <a:avLst/>
          </a:prstGeom>
          <a:noFill/>
          <a:ln w="15875">
            <a:solidFill>
              <a:srgbClr val="7A6F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228600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DE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35040" y="228600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03720" y="2560320"/>
            <a:ext cx="502920" cy="-91440"/>
          </a:xfrm>
          <a:prstGeom prst="line">
            <a:avLst/>
          </a:prstGeom>
          <a:noFill/>
          <a:ln w="15875">
            <a:solidFill>
              <a:srgbClr val="7A6F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32120" y="1965960"/>
            <a:ext cx="502920" cy="1234440"/>
          </a:xfrm>
          <a:prstGeom prst="line">
            <a:avLst/>
          </a:prstGeom>
          <a:noFill/>
          <a:ln w="15875">
            <a:solidFill>
              <a:srgbClr val="7A6F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292608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DE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035040" y="292608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03720" y="3200400"/>
            <a:ext cx="502920" cy="-731520"/>
          </a:xfrm>
          <a:prstGeom prst="line">
            <a:avLst/>
          </a:prstGeom>
          <a:noFill/>
          <a:ln w="15875">
            <a:solidFill>
              <a:srgbClr val="7A6F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06640" y="219456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406640" y="219456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2920" y="3794760"/>
            <a:ext cx="3950208" cy="1051560"/>
          </a:xfrm>
          <a:prstGeom prst="roundRect">
            <a:avLst>
              <a:gd name="adj" fmla="val 608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31520" y="379476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</a:t>
            </a:r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subtasks are INDEPENDENT (sectioning) or one judgment deserves multiple opinions (voting). 3 calls, 1× latency.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90872" y="3794760"/>
            <a:ext cx="3950208" cy="1051560"/>
          </a:xfrm>
          <a:prstGeom prst="roundRect">
            <a:avLst>
              <a:gd name="adj" fmla="val 6087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919472" y="3931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concurrent.futures import ThreadPoolExecutor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ThreadPoolExecutor() as ex: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outs = list(ex.map(ask, prompts))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Orchestrator–workers — plan at runtime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7373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“kettle buying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guide”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2066544"/>
            <a:ext cx="256032" cy="256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31720" y="173736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331720" y="1737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the plan: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list of subtasks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60520" y="2194560"/>
            <a:ext cx="548640" cy="-502920"/>
          </a:xfrm>
          <a:prstGeom prst="line">
            <a:avLst/>
          </a:prstGeom>
          <a:noFill/>
          <a:ln w="19050">
            <a:solidFill>
              <a:srgbClr val="7A6FA8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4709160" y="1417320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EDE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09160" y="141732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prices*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126480" y="1700784"/>
            <a:ext cx="548640" cy="1051560"/>
          </a:xfrm>
          <a:prstGeom prst="line">
            <a:avLst/>
          </a:prstGeom>
          <a:noFill/>
          <a:ln w="19050">
            <a:solidFill>
              <a:srgbClr val="7A6FA8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4160520" y="2194560"/>
            <a:ext cx="548640" cy="274320"/>
          </a:xfrm>
          <a:prstGeom prst="line">
            <a:avLst/>
          </a:prstGeom>
          <a:noFill/>
          <a:ln w="19050">
            <a:solidFill>
              <a:srgbClr val="7A6FA8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4709160" y="2194560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EDE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09160" y="21945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stock*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26480" y="2478024"/>
            <a:ext cx="548640" cy="274320"/>
          </a:xfrm>
          <a:prstGeom prst="line">
            <a:avLst/>
          </a:prstGeom>
          <a:noFill/>
          <a:ln w="19050">
            <a:solidFill>
              <a:srgbClr val="7A6FA8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4160520" y="2194560"/>
            <a:ext cx="548640" cy="1051560"/>
          </a:xfrm>
          <a:prstGeom prst="line">
            <a:avLst/>
          </a:prstGeom>
          <a:noFill/>
          <a:ln w="19050">
            <a:solidFill>
              <a:srgbClr val="7A6FA8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4709160" y="2971800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EDE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709160" y="297180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intro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126480" y="3255264"/>
            <a:ext cx="548640" cy="-502920"/>
          </a:xfrm>
          <a:prstGeom prst="line">
            <a:avLst/>
          </a:prstGeom>
          <a:noFill/>
          <a:ln w="19050">
            <a:solidFill>
              <a:srgbClr val="7A6FA8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6675120" y="219456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675120" y="21945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results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02920" y="3703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these workers call yesterday's TOOLS — get_price, check_inventory. Patterns compose!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02920" y="4069080"/>
            <a:ext cx="8138160" cy="777240"/>
          </a:xfrm>
          <a:prstGeom prst="roundRect">
            <a:avLst>
              <a:gd name="adj" fmla="val 8235"/>
            </a:avLst>
          </a:prstGeom>
          <a:solidFill>
            <a:srgbClr val="E5F4F3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40690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parallelization: </a:t>
            </a:r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there, YOU wrote the subtasks in code. Here, the LLM writes them — dashed boxes exist only at runtime. First step toward agency, but still one bounded pass: plan → execute → synthesize → END. No loop.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4, THE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prompts and a for-loop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212080" cy="3383280"/>
          </a:xfrm>
          <a:prstGeom prst="roundRect">
            <a:avLst>
              <a:gd name="adj" fmla="val 1892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4754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· PLAN — the orchestrator call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= json.loads(ask(PLAN_PROMPT.format(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task=task, tools=TOOL_DESCS)))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{"subtasks": [{"id": 1, "goal": "...",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"needs_tool": "get_price" | null}, ...]}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· EXECUTE — workers (parallel if independent)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{}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st in plan["subtasks"]: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st.get("needs_tool"):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obs = TOOLS[st["needs_tool"]](**st["args"])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results[st["id"]] = obs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results[st["id"]] = ask(WORKER.format(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goal=st["goal"], context=results))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· SYNTHESIZE — one final call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 = ask(SYNTH.format(task=task,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results=results))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897880" y="1325880"/>
            <a:ext cx="2743200" cy="1024128"/>
          </a:xfrm>
          <a:prstGeom prst="roundRect">
            <a:avLst>
              <a:gd name="adj" fmla="val 535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53328" y="13990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 is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53328" y="1728216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json.loads on the orchestrator's output — rung 1 from yesterday, doing architecture now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897880" y="2468880"/>
            <a:ext cx="2743200" cy="1024128"/>
          </a:xfrm>
          <a:prstGeom prst="roundRect">
            <a:avLst>
              <a:gd name="adj" fmla="val 535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53328" y="25420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Workers are dumb on purpose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53328" y="2871216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sees ONE goal + prior results. Small prompts, testable, swappable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97880" y="3611880"/>
            <a:ext cx="2743200" cy="1024128"/>
          </a:xfrm>
          <a:prstGeom prst="roundRect">
            <a:avLst>
              <a:gd name="adj" fmla="val 535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53328" y="36850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Bounded by design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53328" y="4014216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 wild the plan, execution is one pass. Cost = len(subtasks) + 2 calls. You can PRICE it before running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Evaluator–optimizer — the quality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1645920" cy="777240"/>
          </a:xfrm>
          <a:prstGeom prst="roundRect">
            <a:avLst>
              <a:gd name="adj" fmla="val 7059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459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copy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1901952"/>
            <a:ext cx="256032" cy="256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880360" y="164592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880360" y="16459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→ JSON verdict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concrete feedback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901952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257800" y="1719072"/>
            <a:ext cx="640080" cy="640080"/>
          </a:xfrm>
          <a:prstGeom prst="ellipse">
            <a:avLst/>
          </a:prstGeom>
          <a:solidFill>
            <a:srgbClr val="F4B86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257800" y="1719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pass?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901952"/>
            <a:ext cx="256032" cy="25603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355080" y="1645920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3E8E5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355080" y="164592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577840" y="2359152"/>
            <a:ext cx="0" cy="502920"/>
          </a:xfrm>
          <a:prstGeom prst="line">
            <a:avLst/>
          </a:prstGeom>
          <a:noFill/>
          <a:ln w="19050">
            <a:solidFill>
              <a:srgbClr val="C0564A"/>
            </a:solidFill>
            <a:prstDash val="dash"/>
          </a:ln>
        </p:spPr>
      </p:sp>
      <p:sp>
        <p:nvSpPr>
          <p:cNvPr id="16" name="Shape 11"/>
          <p:cNvSpPr/>
          <p:nvPr/>
        </p:nvSpPr>
        <p:spPr>
          <a:xfrm>
            <a:off x="1600200" y="2862072"/>
            <a:ext cx="3977640" cy="0"/>
          </a:xfrm>
          <a:prstGeom prst="line">
            <a:avLst/>
          </a:prstGeom>
          <a:noFill/>
          <a:ln w="19050">
            <a:solidFill>
              <a:srgbClr val="C0564A"/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1600200" y="2423160"/>
            <a:ext cx="0" cy="438912"/>
          </a:xfrm>
          <a:prstGeom prst="line">
            <a:avLst/>
          </a:prstGeom>
          <a:noFill/>
          <a:ln w="19050">
            <a:solidFill>
              <a:srgbClr val="C0564A"/>
            </a:solidFill>
            <a:prstDash val="dash"/>
          </a:ln>
        </p:spPr>
      </p:sp>
      <p:sp>
        <p:nvSpPr>
          <p:cNvPr id="18" name="Text 13"/>
          <p:cNvSpPr/>
          <p:nvPr/>
        </p:nvSpPr>
        <p:spPr>
          <a:xfrm>
            <a:off x="1783080" y="2926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feedback goes BACK to the generator (max 3 rounds — bounded!)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02920" y="3429000"/>
            <a:ext cx="3950208" cy="1417320"/>
          </a:xfrm>
          <a:prstGeom prst="roundRect">
            <a:avLst>
              <a:gd name="adj" fmla="val 4516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31520" y="342900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</a:t>
            </a:r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checkable and worth iteration. You built the evaluator in W2D4 — the judge! Same rubric idea, now steering generation instead of grading it.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690872" y="3429000"/>
            <a:ext cx="3950208" cy="1417320"/>
          </a:xfrm>
          <a:prstGeom prst="roundRect">
            <a:avLst>
              <a:gd name="adj" fmla="val 4516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4919472" y="35661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round in range(3):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= json.loads(ask(EVAL.format(d=draft)))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v["pass"]: break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draft = ask(REVISE.format(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d=draft, feedback=v["feedback"]))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pattern picker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429000" cy="384048"/>
          </a:xfrm>
          <a:prstGeom prst="roundRect">
            <a:avLst>
              <a:gd name="adj" fmla="val 11905"/>
            </a:avLst>
          </a:prstGeom>
          <a:solidFill>
            <a:srgbClr val="1B1F3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98448"/>
            <a:ext cx="3429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If…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977640" y="1298448"/>
            <a:ext cx="2331720" cy="384048"/>
          </a:xfrm>
          <a:prstGeom prst="roundRect">
            <a:avLst>
              <a:gd name="adj" fmla="val 11905"/>
            </a:avLst>
          </a:prstGeom>
          <a:solidFill>
            <a:srgbClr val="1B1F3B"/>
          </a:solidFill>
          <a:ln/>
        </p:spPr>
      </p:sp>
      <p:sp>
        <p:nvSpPr>
          <p:cNvPr id="7" name="Text 5"/>
          <p:cNvSpPr/>
          <p:nvPr/>
        </p:nvSpPr>
        <p:spPr>
          <a:xfrm>
            <a:off x="3977640" y="1298448"/>
            <a:ext cx="23317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298448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1B1F3B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298448"/>
            <a:ext cx="21945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shape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342900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37360"/>
            <a:ext cx="33375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steps in advance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77640" y="173736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1737360"/>
            <a:ext cx="22402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 (+ gates)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173736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call per step, fixed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249424"/>
            <a:ext cx="342900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249424"/>
            <a:ext cx="33375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split into known categories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977640" y="2249424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0" y="2249424"/>
            <a:ext cx="22402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2249424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249424"/>
            <a:ext cx="21031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cheap + 1 specialized call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2761488"/>
            <a:ext cx="342900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761488"/>
            <a:ext cx="33375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subtasks / need 2nd opinions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977640" y="2761488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25" name="Text 23"/>
          <p:cNvSpPr/>
          <p:nvPr/>
        </p:nvSpPr>
        <p:spPr>
          <a:xfrm>
            <a:off x="4023360" y="2761488"/>
            <a:ext cx="22402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(section / vote)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2761488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2761488"/>
            <a:ext cx="21031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calls, 1× latency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3273552"/>
            <a:ext cx="342900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273552"/>
            <a:ext cx="33375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Subtasks unknown until you see the task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977640" y="3273552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31" name="Text 29"/>
          <p:cNvSpPr/>
          <p:nvPr/>
        </p:nvSpPr>
        <p:spPr>
          <a:xfrm>
            <a:off x="4023360" y="3273552"/>
            <a:ext cx="22402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Orchestrator–workers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55080" y="3273552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3273552"/>
            <a:ext cx="21031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+ N + synth, bounded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3785616"/>
            <a:ext cx="342900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785616"/>
            <a:ext cx="33375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quality checkable, worth polishing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977640" y="3785616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37" name="Text 35"/>
          <p:cNvSpPr/>
          <p:nvPr/>
        </p:nvSpPr>
        <p:spPr>
          <a:xfrm>
            <a:off x="4023360" y="3785616"/>
            <a:ext cx="22402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Evaluator–optimizer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55080" y="3785616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3785616"/>
            <a:ext cx="21031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 × rounds, bounded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4297680"/>
            <a:ext cx="3429000" cy="457200"/>
          </a:xfrm>
          <a:prstGeom prst="roundRect">
            <a:avLst>
              <a:gd name="adj" fmla="val 10000"/>
            </a:avLst>
          </a:prstGeom>
          <a:solidFill>
            <a:srgbClr val="F7E6E3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297680"/>
            <a:ext cx="33375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genuinely unknowable in advance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977640" y="429768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7E6E3"/>
          </a:solidFill>
          <a:ln/>
        </p:spPr>
      </p:sp>
      <p:sp>
        <p:nvSpPr>
          <p:cNvPr id="43" name="Text 41"/>
          <p:cNvSpPr/>
          <p:nvPr/>
        </p:nvSpPr>
        <p:spPr>
          <a:xfrm>
            <a:off x="4023360" y="4297680"/>
            <a:ext cx="22402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5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(yesterday's loop)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55080" y="429768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7E6E3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— budget it!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02920" y="482803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gold: 'I'd try a workflow first — here's which one and why' beats 'I'd build an agent' every single time.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COMPOSE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finale: the SmartSupport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92024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157984"/>
            <a:ext cx="256032" cy="256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03120" y="1920240"/>
            <a:ext cx="1051560" cy="731520"/>
          </a:xfrm>
          <a:prstGeom prst="roundRect">
            <a:avLst>
              <a:gd name="adj" fmla="val 75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103120" y="192024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54680" y="2286000"/>
            <a:ext cx="457200" cy="-685800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11880" y="13258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611880" y="13258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FAQ: one call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154680" y="2286000"/>
            <a:ext cx="457200" cy="0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11880" y="201168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611880" y="20116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COMPLAINT: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— facts → draft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154680" y="2286000"/>
            <a:ext cx="457200" cy="685800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11880" y="297180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611880" y="29718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REFUND: policy call</a:t>
            </a:r>
            <a:endParaRPr lang="en-US" sz="8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231136"/>
            <a:ext cx="256032" cy="25603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806440" y="192024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806440" y="19202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tone + policy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(≤ 2 rounds)</a:t>
            </a:r>
            <a:endParaRPr lang="en-US" sz="8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231136"/>
            <a:ext cx="256032" cy="25603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818120" y="2011680"/>
            <a:ext cx="777240" cy="594360"/>
          </a:xfrm>
          <a:prstGeom prst="roundRect">
            <a:avLst>
              <a:gd name="adj" fmla="val 9231"/>
            </a:avLst>
          </a:prstGeom>
          <a:solidFill>
            <a:srgbClr val="3E8E5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818120" y="201168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02920" y="3886200"/>
            <a:ext cx="8138160" cy="960120"/>
          </a:xfrm>
          <a:prstGeom prst="roundRect">
            <a:avLst>
              <a:gd name="adj" fmla="val 6667"/>
            </a:avLst>
          </a:prstGeom>
          <a:solidFill>
            <a:srgbClr val="E5F4F3"/>
          </a:solidFill>
          <a:ln/>
        </p:spPr>
      </p:sp>
      <p:sp>
        <p:nvSpPr>
          <p:cNvPr id="25" name="Text 20"/>
          <p:cNvSpPr/>
          <p:nvPr/>
        </p:nvSpPr>
        <p:spPr>
          <a:xfrm>
            <a:off x="731520" y="388620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+ chaining + evaluation in ONE pipeline — </a:t>
            </a:r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still zero unbounded loops: you can compute the worst-case cost on paper before running it. THIS is what most 'AI agents' in production actually are. The free-running loop is saved for where it earns its chaos — Friday's project.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LENS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shape has a price tag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258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 (4 steps)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834640" y="13258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calls, serial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26280" y="13258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×4 — user waits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766560" y="13258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are free (plain code)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2066544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06654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834640" y="2066544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calls, serial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26280" y="206654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×2, but route 1 can be tiny/fast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766560" y="206654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specialization there 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807208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28072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×3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34640" y="280720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calls, concurrent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26280" y="280720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×1 — the whole point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66560" y="280720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tokens, save time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547872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54787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 (n subtasks)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834640" y="354787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+ 2 calls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26280" y="354787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+ synth serial, workers parallel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66560" y="35478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known AFTER plan, before work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4288536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428853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Evaluator (r rounds)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834640" y="4288536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 to 2r calls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26280" y="428853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= 2r serial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66560" y="428853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r or pay forever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48920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W1D3's cost meter and W1D4's latency thinking apply to every box — the notebook prints call counts per pattern.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Practical: five patterns, five builds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3677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" y="176753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3619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 · Route · Parallel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60520" y="153619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Product-copy chain with a failing gate · support router · 3-review fan-out + 3-vote majority.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46888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64261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" y="277337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4203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160520" y="254203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plans a kettle buying guide; workers execute (two call yesterday's tools); synthesizer merges.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47472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64845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377921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4787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&amp; compose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160520" y="354787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⇄ judge loop until PASS — then the full SmartSupport pipeline, with a live call-counter.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leave able to SAY which pattern fits a task — and prove it with the one you built.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ideas to keep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Simplest shape wins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loops are the LAST resort; most 'agents' in prod are workflows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90872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73752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05272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shapes, one skill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05272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· route · parallel · orchestrate · evaluate — all ~20 lines each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Gates are plain code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counts, json.loads, thresholds — checks between calls cost nothing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90872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3752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05272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before you run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05272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workflow's worst-case cost is computable; the agent's is not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Module 3: </a:t>
            </a:r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the loop, done properly — native function calling, explicit ReAct reasoning, real memory, and LangChain (which you'll now read like an X-ray).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Module 2 — Workflow Patterns</dc:title>
  <dc:subject>PptxGenJS Presentation</dc:subject>
  <dc:creator>PMS RoBoTics Research Center</dc:creator>
  <cp:lastModifiedBy>PMS RoBoTics Research Center</cp:lastModifiedBy>
  <cp:revision>1</cp:revision>
  <dcterms:created xsi:type="dcterms:W3CDTF">2026-07-21T13:12:50Z</dcterms:created>
  <dcterms:modified xsi:type="dcterms:W3CDTF">2026-07-21T13:12:50Z</dcterms:modified>
</cp:coreProperties>
</file>